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9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6" Type="http://schemas.openxmlformats.org/officeDocument/2006/relationships/slide" Target="slides/slide6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2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3.svg" /><Relationship Id="rId1" Type="http://schemas.openxmlformats.org/officeDocument/2006/relationships/image" Target="media/image16.svg" /><Relationship Id="rId2" Type="http://schemas.openxmlformats.org/officeDocument/2006/relationships/image" Target="media/image17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4" Type="http://schemas.openxmlformats.org/officeDocument/2006/relationships/image" Target="media/image3.svg" /><Relationship Id="rId2" Type="http://schemas.openxmlformats.org/officeDocument/2006/relationships/image" Target="media/image5.svg" /><Relationship Id="rId3" Type="http://schemas.openxmlformats.org/officeDocument/2006/relationships/image" Target="media/image6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3.svg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svg" /><Relationship Id="rId1" Type="http://schemas.openxmlformats.org/officeDocument/2006/relationships/image" Target="media/image8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3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&#10;    width: 1280,&#10;    height: 720,&#10;    padding: 0,&#10;    position: 'relative',&#10;    overflow: 'hidden',&#10;    flexDirection: 'row',&#10;    background: 'linear-gradient(160deg, #0F172A 0%, #1E293B 100%)',&#10;    fontFamily: '思源黑体, Microsoft YaHei, sans-serif'&#10;}}&gt;&#10;    &lt;Box style={{&#10;        position: 'absolute',&#10;        top: -140,&#10;        right: -90,&#10;        width: 540,&#10;        height: 540,&#10;        borderRadius: '50%',&#10;        background: 'radial-gradient(circle, rgba(37,99,235,0.38) 0%, rgba(37,99,235,0) 70%)'&#10;    }} /&gt;&#10;    &lt;Box style={{&#10;        position: 'absolute',&#10;        bottom: -160,&#10;        left: -110,&#10;        width: 500,&#10;        height: 500,&#10;        borderRadius: '50%',&#10;        background: 'radial-gradient(circle, rgba(6,182,212,0.22) 0%, rgba(6,182,212,0) 70%)'&#10;    }} /&gt;&#10;&#10;    &lt;Box style={{ position: 'absolute', top: 40, right: 48, width: 580, height: 640, opacity: 0.96 }}&gt;&#10;        &lt;svg width={580} height={640} viewBox='0 0 600 660'&gt;&#10;            &lt;rect x='24' y='30' width='140' height='48' rx='8' fill='rgba(255,255,255,0.06)' stroke='rgba(255,255,255,0.22)' strokeWidth='1' /&gt;&#10;            &lt;rect x='24' y='92' width='140' height='48' rx='8' fill='rgba(255,255,255,0.06)' stroke='rgba(255,255,255,0.22)' strokeWidth='1' /&gt;&#10;            &lt;rect x='24' y='154' width='140' height='48' rx='8' fill='rgba(6,182,212,0.20)' stroke='#06B6D4' strokeWidth='2.5' /&gt;&#10;            &lt;rect x='24' y='216' width='140' height='48' rx='8' fill='rgba(255,255,255,0.06)' stroke='rgba(255,255,255,0.22)' strokeWidth='1' /&gt;&#10;            &lt;rect x='24' y='278' width='140' height='48' rx='8' fill='rgba(255,255,255,0.06)' stroke='rgba(255,255,255,0.22)' strokeWidth='1' /&gt;&#10;            &lt;rect x='24' y='340' width='140' height='48' rx='8' fill='rgba(245,158,11,0.18)' stroke='#F59E0B' strokeWidth='2.5' /&gt;&#10;            &lt;rect x='24' y='402' width='140' height='48' rx='8' fill='rgba(255,255,255,0.06)' stroke='rgba(255,255,255,0.22)' strokeWidth='1' /&gt;&#10;            &lt;rect x='24' y='464' width='140' height='48' rx='8' fill='rgba(255,255,255,0.06)' stroke='rgba(255,255,255,0.22)' strokeWidth='1' /&gt;&#10;            &lt;rect x='24' y='526' width='140' height='48' rx='8' fill='rgba(255,255,255,0.06)' stroke='rgba(255,255,255,0.22)' strokeWidth='1' /&gt;&#10;&#10;            &lt;line x1='164' y1='178' x2='192' y2='178' stroke='#06B6D4' strokeWidth='2.5' /&gt;&#10;            &lt;polygon points='196,178 186,172 186,184' fill='#06B6D4' /&gt;&#10;            &lt;rect x='196' y='152' width='112' height='52' rx='8' fill='rgba(6,182,212,0.16)' stroke='#06B6D4' strokeWidth='2.5' /&gt;&#10;            &lt;line x1='308' y1='178' x2='336' y2='178' stroke='#06B6D4' strokeWidth='2.5' /&gt;&#10;            &lt;polygon points='340,178 330,172 330,184' fill='#06B6D4' /&gt;&#10;            &lt;rect x='340' y='152' width='112' height='52' rx='8' fill='rgba(255,255,255,0.06)' stroke='#06B6D4' strokeWidth='2' /&gt;&#10;            &lt;line x1='452' y1='178' x2='494' y2='178' stroke='rgba(255,255,255,0.35)' strokeWidth='2' /&gt;&#10;            &lt;circle cx='502' cy='178' r='8' fill='none' stroke='rgba(255,255,255,0.35)' strokeWidth='2' /&gt;&#10;&#10;            &lt;line x1='164' y1='364' x2='210' y2='364' stroke='#F59E0B' strokeWidth='2.5' /&gt;&#10;            &lt;polygon points='214,364 204,358 204,370' fill='#F59E0B' /&gt;&#10;            &lt;rect x='214' y='338' width='116' height='52' rx='8' fill='rgba(245,158,11,0.22)' stroke='#F59E0B' strokeWidth='2.5' /&gt;&#10;            &lt;line x1='248' y1='390' x2='204' y2='446' stroke='rgba(245,158,11,0.8)' strokeWidth='2' /&gt;&#10;            &lt;line x1='296' y1='390' x2='344' y2='446' stroke='rgba(245,158,11,0.8)' strokeWidth='2' /&gt;&#10;            &lt;rect x='146' y='446' width='116' height='50' rx='8' fill='rgba(6,182,212,0.14)' stroke='#06B6D4' strokeWidth='2' /&gt;&#10;            &lt;rect x='286' y='446' width='116' height='50' rx='8' fill='rgba(255,255,255,0.06)' stroke='#F59E0B' strokeWidth='2' /&gt;&#10;            &lt;line x1='182' y1='496' x2='182' y2='536' stroke='rgba(6,182,212,0.7)' strokeWidth='2' /&gt;&#10;            &lt;line x1='366' y1='496' x2='366' y2='536' stroke='rgba(245,158,11,0.7)' strokeWidth='2' /&gt;&#10;            &lt;circle cx='182' cy='544' r='8' fill='rgba(6,182,212,0.25)' stroke='#06B6D4' strokeWidth='2' /&gt;&#10;            &lt;circle cx='366' cy='544' r='8' fill='rgba(245,158,11,0.25)' stroke='#F59E0B' strokeWidth='2' /&gt;&#10;        &lt;/svg&gt;&#10;    &lt;/Box&gt;&#10;&#10;    &lt;Text style={{&#10;        position: 'absolute',&#10;        right: 96,&#10;        bottom: 30,&#10;        fontSize: 15,&#10;        letterSpacing: 2,&#10;        color: '#64748B',&#10;        fontFamily: 'JetBrains Mono, Consolas, monospace'&#10;    }}&gt;BUCKET[ ] → NODE → TREENODE&lt;/Text&gt;&#10;&#10;    &lt;Box style={{&#10;        width: 620,&#10;        padding: '84px 0 56px 72px',&#10;        justifyContent: 'space-between',&#10;        position: 'relative',&#10;        zIndex: 1&#10;    }}&gt;&#10;        &lt;Box style={{ flexDirection: 'column', gap: 22 }}&gt;&#10;            &lt;Text style={{&#10;                fontSize: 16,&#10;                letterSpacing: 3,&#10;                color: '#06B6D4',&#10;                fontFamily: 'JetBrains Mono, Consolas, monospace'&#10;            }}&gt;JAVA · 集合框架 · JDK 1.8&lt;/Text&gt;&#10;&#10;            &lt;Text style={{ fontSize: 68, fontWeight: 'bold', lineHeight: 1.15, letterSpacing: -1, color: '#FFFFFF' }}&gt;&#10;                HashMap 1.8&#10;            &lt;/Text&gt;&#10;&#10;            &lt;Text style={{ fontSize: 34, fontWeight: 'bold', lineHeight: 1.35, color: '#CBD5E1' }}&gt;&#10;                底层结构与 put 全流程&#10;            &lt;/Text&gt;&#10;&#10;            &lt;Box style={{&#10;                width: 96,&#10;                height: 6,&#10;                borderRadius: 3,&#10;                marginTop: 6,&#10;                background: 'linear-gradient(135deg, #2563EB 0%, #06B6D4 100%)'&#10;            }} /&gt;&#10;&#10;            &lt;Box style={{ flexDirection: 'row', flexWrap: 'wrap', gap: 12, marginTop: 10, width: 500 }}&gt;&#10;                &lt;Box style={{&#10;                    padding: '10px 18px',&#10;                    borderRadius: 999,&#10;                    border: '1px solid rgba(6,182,212,0.55)',&#10;                    background: 'rgba(6,182,212,0.12)'&#10;                }}&gt;&#10;                    &lt;Text style={{ fontSize: 18, color: '#E2E8F0' }}&gt;数组 + 链表 + 红黑树&lt;/Text&gt;&#10;                &lt;/Box&gt;&#10;                &lt;Box style={{&#10;                    padding: '10px 18px',&#10;                    borderRadius: 999,&#10;                    border: '1px solid rgba(37,99,235,0.55)',&#10;                    background: 'rgba(37,99,235,0.14)'&#10;                }}&gt;&#10;                    &lt;Text style={{ fontSize: 18, color: '#E2E8F0' }}&gt;hash 扰动函数&lt;/Text&gt;&#10;                &lt;/Box&gt;&#10;                &lt;Box style={{&#10;                    padding: '10px 18px',&#10;                    borderRadius: 999,&#10;                    border: '1px solid rgba(245,158,11,0.55)',&#10;                    background: 'rgba(245,158,11,0.14)'&#10;                }}&gt;&#10;                    &lt;Text style={{ fontSize: 18, color: '#FCD34D', fontFamily: 'JetBrains Mono, Consolas, monospace' }}&gt;16 / 0.75 / 8&lt;/Text&gt;&#10;                &lt;/Box&gt;&#10;            &lt;/Box&gt;&#10;        &lt;/Box&gt;&#10;&#10;        &lt;Box style={{ flexDirection: 'row', alignItems: 'center', gap: 14 }}&gt;&#10;            &lt;Box style={{ width: 32, height: 3, background: '#2563EB', borderRadius: 2 }} /&gt;&#10;            &lt;Text style={{ fontSize: 17, color: '#64748B' }}&gt;源码学习笔记 · 复习串讲 · 一页一页讲到底层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905750" y="-1333500"/>
            <a:ext cx="5143500" cy="5143500"/>
          </a:xfrm>
          <a:custGeom>
            <a:pathLst>
              <a:path w="540" h="540">
                <a:moveTo>
                  <a:pt x="450" y="471"/>
                </a:moveTo>
                <a:lnTo>
                  <a:pt x="447" y="474"/>
                </a:lnTo>
                <a:lnTo>
                  <a:pt x="442" y="478"/>
                </a:lnTo>
                <a:lnTo>
                  <a:pt x="437" y="482"/>
                </a:lnTo>
                <a:lnTo>
                  <a:pt x="432" y="486"/>
                </a:lnTo>
                <a:lnTo>
                  <a:pt x="426" y="490"/>
                </a:lnTo>
                <a:lnTo>
                  <a:pt x="421" y="494"/>
                </a:lnTo>
                <a:lnTo>
                  <a:pt x="415" y="497"/>
                </a:lnTo>
                <a:lnTo>
                  <a:pt x="410" y="501"/>
                </a:lnTo>
                <a:lnTo>
                  <a:pt x="404" y="504"/>
                </a:lnTo>
                <a:lnTo>
                  <a:pt x="399" y="507"/>
                </a:lnTo>
                <a:lnTo>
                  <a:pt x="393" y="510"/>
                </a:lnTo>
                <a:lnTo>
                  <a:pt x="387" y="513"/>
                </a:lnTo>
                <a:lnTo>
                  <a:pt x="381" y="516"/>
                </a:lnTo>
                <a:lnTo>
                  <a:pt x="375" y="519"/>
                </a:lnTo>
                <a:lnTo>
                  <a:pt x="369" y="521"/>
                </a:lnTo>
                <a:lnTo>
                  <a:pt x="363" y="524"/>
                </a:lnTo>
                <a:lnTo>
                  <a:pt x="357" y="526"/>
                </a:lnTo>
                <a:lnTo>
                  <a:pt x="350" y="528"/>
                </a:lnTo>
                <a:lnTo>
                  <a:pt x="344" y="530"/>
                </a:lnTo>
                <a:lnTo>
                  <a:pt x="337" y="531"/>
                </a:lnTo>
                <a:lnTo>
                  <a:pt x="331" y="533"/>
                </a:lnTo>
                <a:lnTo>
                  <a:pt x="324" y="535"/>
                </a:lnTo>
                <a:lnTo>
                  <a:pt x="318" y="536"/>
                </a:lnTo>
                <a:lnTo>
                  <a:pt x="311" y="537"/>
                </a:lnTo>
                <a:lnTo>
                  <a:pt x="304" y="538"/>
                </a:lnTo>
                <a:lnTo>
                  <a:pt x="298" y="539"/>
                </a:lnTo>
                <a:lnTo>
                  <a:pt x="291" y="539"/>
                </a:lnTo>
                <a:lnTo>
                  <a:pt x="284" y="540"/>
                </a:lnTo>
                <a:lnTo>
                  <a:pt x="277" y="540"/>
                </a:lnTo>
                <a:lnTo>
                  <a:pt x="270" y="540"/>
                </a:lnTo>
                <a:lnTo>
                  <a:pt x="263" y="540"/>
                </a:lnTo>
                <a:lnTo>
                  <a:pt x="256" y="540"/>
                </a:lnTo>
                <a:lnTo>
                  <a:pt x="249" y="539"/>
                </a:lnTo>
                <a:lnTo>
                  <a:pt x="242" y="539"/>
                </a:lnTo>
                <a:lnTo>
                  <a:pt x="236" y="538"/>
                </a:lnTo>
                <a:lnTo>
                  <a:pt x="229" y="537"/>
                </a:lnTo>
                <a:lnTo>
                  <a:pt x="222" y="536"/>
                </a:lnTo>
                <a:lnTo>
                  <a:pt x="216" y="535"/>
                </a:lnTo>
                <a:lnTo>
                  <a:pt x="209" y="533"/>
                </a:lnTo>
                <a:lnTo>
                  <a:pt x="203" y="531"/>
                </a:lnTo>
                <a:lnTo>
                  <a:pt x="196" y="530"/>
                </a:lnTo>
                <a:lnTo>
                  <a:pt x="190" y="528"/>
                </a:lnTo>
                <a:lnTo>
                  <a:pt x="183" y="526"/>
                </a:lnTo>
                <a:lnTo>
                  <a:pt x="177" y="524"/>
                </a:lnTo>
                <a:lnTo>
                  <a:pt x="171" y="521"/>
                </a:lnTo>
                <a:lnTo>
                  <a:pt x="165" y="519"/>
                </a:lnTo>
                <a:lnTo>
                  <a:pt x="159" y="516"/>
                </a:lnTo>
                <a:lnTo>
                  <a:pt x="153" y="513"/>
                </a:lnTo>
                <a:lnTo>
                  <a:pt x="147" y="510"/>
                </a:lnTo>
                <a:lnTo>
                  <a:pt x="141" y="507"/>
                </a:lnTo>
                <a:lnTo>
                  <a:pt x="136" y="504"/>
                </a:lnTo>
                <a:lnTo>
                  <a:pt x="130" y="501"/>
                </a:lnTo>
                <a:lnTo>
                  <a:pt x="125" y="497"/>
                </a:lnTo>
                <a:lnTo>
                  <a:pt x="119" y="494"/>
                </a:lnTo>
                <a:lnTo>
                  <a:pt x="114" y="490"/>
                </a:lnTo>
                <a:lnTo>
                  <a:pt x="108" y="486"/>
                </a:lnTo>
                <a:lnTo>
                  <a:pt x="103" y="482"/>
                </a:lnTo>
                <a:lnTo>
                  <a:pt x="98" y="478"/>
                </a:lnTo>
                <a:lnTo>
                  <a:pt x="93" y="474"/>
                </a:lnTo>
                <a:lnTo>
                  <a:pt x="88" y="470"/>
                </a:lnTo>
                <a:lnTo>
                  <a:pt x="84" y="465"/>
                </a:lnTo>
                <a:lnTo>
                  <a:pt x="79" y="461"/>
                </a:lnTo>
                <a:lnTo>
                  <a:pt x="75" y="456"/>
                </a:lnTo>
                <a:lnTo>
                  <a:pt x="70" y="452"/>
                </a:lnTo>
                <a:lnTo>
                  <a:pt x="66" y="447"/>
                </a:lnTo>
                <a:lnTo>
                  <a:pt x="62" y="442"/>
                </a:lnTo>
                <a:lnTo>
                  <a:pt x="58" y="437"/>
                </a:lnTo>
                <a:lnTo>
                  <a:pt x="54" y="432"/>
                </a:lnTo>
                <a:lnTo>
                  <a:pt x="50" y="426"/>
                </a:lnTo>
                <a:lnTo>
                  <a:pt x="46" y="421"/>
                </a:lnTo>
                <a:lnTo>
                  <a:pt x="43" y="415"/>
                </a:lnTo>
                <a:lnTo>
                  <a:pt x="39" y="410"/>
                </a:lnTo>
                <a:lnTo>
                  <a:pt x="36" y="404"/>
                </a:lnTo>
                <a:lnTo>
                  <a:pt x="33" y="399"/>
                </a:lnTo>
                <a:lnTo>
                  <a:pt x="30" y="393"/>
                </a:lnTo>
                <a:lnTo>
                  <a:pt x="27" y="387"/>
                </a:lnTo>
                <a:lnTo>
                  <a:pt x="24" y="381"/>
                </a:lnTo>
                <a:lnTo>
                  <a:pt x="21" y="375"/>
                </a:lnTo>
                <a:lnTo>
                  <a:pt x="19" y="369"/>
                </a:lnTo>
                <a:lnTo>
                  <a:pt x="16" y="363"/>
                </a:lnTo>
                <a:lnTo>
                  <a:pt x="14" y="357"/>
                </a:lnTo>
                <a:lnTo>
                  <a:pt x="12" y="350"/>
                </a:lnTo>
                <a:lnTo>
                  <a:pt x="10" y="344"/>
                </a:lnTo>
                <a:lnTo>
                  <a:pt x="9" y="337"/>
                </a:lnTo>
                <a:lnTo>
                  <a:pt x="7" y="331"/>
                </a:lnTo>
                <a:lnTo>
                  <a:pt x="5" y="324"/>
                </a:lnTo>
                <a:lnTo>
                  <a:pt x="4" y="318"/>
                </a:lnTo>
                <a:lnTo>
                  <a:pt x="3" y="311"/>
                </a:lnTo>
                <a:lnTo>
                  <a:pt x="2" y="304"/>
                </a:lnTo>
                <a:lnTo>
                  <a:pt x="1" y="298"/>
                </a:lnTo>
                <a:lnTo>
                  <a:pt x="1" y="291"/>
                </a:lnTo>
                <a:lnTo>
                  <a:pt x="0" y="284"/>
                </a:lnTo>
                <a:lnTo>
                  <a:pt x="0" y="277"/>
                </a:lnTo>
                <a:lnTo>
                  <a:pt x="0" y="270"/>
                </a:lnTo>
                <a:lnTo>
                  <a:pt x="0" y="263"/>
                </a:lnTo>
                <a:lnTo>
                  <a:pt x="0" y="256"/>
                </a:lnTo>
                <a:lnTo>
                  <a:pt x="1" y="249"/>
                </a:lnTo>
                <a:lnTo>
                  <a:pt x="1" y="242"/>
                </a:lnTo>
                <a:lnTo>
                  <a:pt x="2" y="236"/>
                </a:lnTo>
                <a:lnTo>
                  <a:pt x="3" y="229"/>
                </a:lnTo>
                <a:lnTo>
                  <a:pt x="4" y="222"/>
                </a:lnTo>
                <a:lnTo>
                  <a:pt x="5" y="216"/>
                </a:lnTo>
                <a:lnTo>
                  <a:pt x="7" y="209"/>
                </a:lnTo>
                <a:lnTo>
                  <a:pt x="9" y="203"/>
                </a:lnTo>
                <a:lnTo>
                  <a:pt x="10" y="196"/>
                </a:lnTo>
                <a:lnTo>
                  <a:pt x="12" y="190"/>
                </a:lnTo>
                <a:lnTo>
                  <a:pt x="14" y="183"/>
                </a:lnTo>
                <a:lnTo>
                  <a:pt x="16" y="177"/>
                </a:lnTo>
                <a:lnTo>
                  <a:pt x="19" y="171"/>
                </a:lnTo>
                <a:lnTo>
                  <a:pt x="21" y="165"/>
                </a:lnTo>
                <a:lnTo>
                  <a:pt x="24" y="159"/>
                </a:lnTo>
                <a:lnTo>
                  <a:pt x="27" y="153"/>
                </a:lnTo>
                <a:lnTo>
                  <a:pt x="30" y="147"/>
                </a:lnTo>
                <a:lnTo>
                  <a:pt x="33" y="141"/>
                </a:lnTo>
                <a:lnTo>
                  <a:pt x="33" y="140"/>
                </a:lnTo>
                <a:lnTo>
                  <a:pt x="450" y="140"/>
                </a:lnTo>
                <a:close/>
              </a:path>
            </a:pathLst>
          </a:custGeom>
          <a:gradFill>
            <a:gsLst>
              <a:gs pos="0">
                <a:srgbClr val="2563EB">
                  <a:alpha val="38000"/>
                </a:srgbClr>
              </a:gs>
              <a:gs pos="7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047750" y="3619500"/>
            <a:ext cx="4762500" cy="4762500"/>
          </a:xfrm>
          <a:custGeom>
            <a:pathLst>
              <a:path w="500" h="500">
                <a:moveTo>
                  <a:pt x="256" y="0"/>
                </a:moveTo>
                <a:lnTo>
                  <a:pt x="263" y="0"/>
                </a:lnTo>
                <a:lnTo>
                  <a:pt x="269" y="1"/>
                </a:lnTo>
                <a:lnTo>
                  <a:pt x="276" y="1"/>
                </a:lnTo>
                <a:lnTo>
                  <a:pt x="282" y="2"/>
                </a:lnTo>
                <a:lnTo>
                  <a:pt x="288" y="3"/>
                </a:lnTo>
                <a:lnTo>
                  <a:pt x="294" y="4"/>
                </a:lnTo>
                <a:lnTo>
                  <a:pt x="300" y="5"/>
                </a:lnTo>
                <a:lnTo>
                  <a:pt x="306" y="6"/>
                </a:lnTo>
                <a:lnTo>
                  <a:pt x="312" y="8"/>
                </a:lnTo>
                <a:lnTo>
                  <a:pt x="318" y="9"/>
                </a:lnTo>
                <a:lnTo>
                  <a:pt x="324" y="11"/>
                </a:lnTo>
                <a:lnTo>
                  <a:pt x="330" y="13"/>
                </a:lnTo>
                <a:lnTo>
                  <a:pt x="336" y="15"/>
                </a:lnTo>
                <a:lnTo>
                  <a:pt x="342" y="17"/>
                </a:lnTo>
                <a:lnTo>
                  <a:pt x="347" y="20"/>
                </a:lnTo>
                <a:lnTo>
                  <a:pt x="353" y="22"/>
                </a:lnTo>
                <a:lnTo>
                  <a:pt x="358" y="25"/>
                </a:lnTo>
                <a:lnTo>
                  <a:pt x="364" y="27"/>
                </a:lnTo>
                <a:lnTo>
                  <a:pt x="369" y="30"/>
                </a:lnTo>
                <a:lnTo>
                  <a:pt x="374" y="33"/>
                </a:lnTo>
                <a:lnTo>
                  <a:pt x="380" y="36"/>
                </a:lnTo>
                <a:lnTo>
                  <a:pt x="385" y="39"/>
                </a:lnTo>
                <a:lnTo>
                  <a:pt x="390" y="43"/>
                </a:lnTo>
                <a:lnTo>
                  <a:pt x="395" y="46"/>
                </a:lnTo>
                <a:lnTo>
                  <a:pt x="400" y="50"/>
                </a:lnTo>
                <a:lnTo>
                  <a:pt x="404" y="53"/>
                </a:lnTo>
                <a:lnTo>
                  <a:pt x="409" y="57"/>
                </a:lnTo>
                <a:lnTo>
                  <a:pt x="414" y="61"/>
                </a:lnTo>
                <a:lnTo>
                  <a:pt x="418" y="65"/>
                </a:lnTo>
                <a:lnTo>
                  <a:pt x="422" y="69"/>
                </a:lnTo>
                <a:lnTo>
                  <a:pt x="427" y="73"/>
                </a:lnTo>
                <a:lnTo>
                  <a:pt x="431" y="78"/>
                </a:lnTo>
                <a:lnTo>
                  <a:pt x="435" y="82"/>
                </a:lnTo>
                <a:lnTo>
                  <a:pt x="439" y="86"/>
                </a:lnTo>
                <a:lnTo>
                  <a:pt x="443" y="91"/>
                </a:lnTo>
                <a:lnTo>
                  <a:pt x="447" y="96"/>
                </a:lnTo>
                <a:lnTo>
                  <a:pt x="450" y="100"/>
                </a:lnTo>
                <a:lnTo>
                  <a:pt x="454" y="105"/>
                </a:lnTo>
                <a:lnTo>
                  <a:pt x="457" y="110"/>
                </a:lnTo>
                <a:lnTo>
                  <a:pt x="461" y="115"/>
                </a:lnTo>
                <a:lnTo>
                  <a:pt x="464" y="120"/>
                </a:lnTo>
                <a:lnTo>
                  <a:pt x="467" y="126"/>
                </a:lnTo>
                <a:lnTo>
                  <a:pt x="470" y="131"/>
                </a:lnTo>
                <a:lnTo>
                  <a:pt x="473" y="136"/>
                </a:lnTo>
                <a:lnTo>
                  <a:pt x="475" y="142"/>
                </a:lnTo>
                <a:lnTo>
                  <a:pt x="478" y="147"/>
                </a:lnTo>
                <a:lnTo>
                  <a:pt x="480" y="153"/>
                </a:lnTo>
                <a:lnTo>
                  <a:pt x="483" y="158"/>
                </a:lnTo>
                <a:lnTo>
                  <a:pt x="485" y="164"/>
                </a:lnTo>
                <a:lnTo>
                  <a:pt x="487" y="170"/>
                </a:lnTo>
                <a:lnTo>
                  <a:pt x="489" y="176"/>
                </a:lnTo>
                <a:lnTo>
                  <a:pt x="491" y="182"/>
                </a:lnTo>
                <a:lnTo>
                  <a:pt x="492" y="188"/>
                </a:lnTo>
                <a:lnTo>
                  <a:pt x="494" y="194"/>
                </a:lnTo>
                <a:lnTo>
                  <a:pt x="495" y="200"/>
                </a:lnTo>
                <a:lnTo>
                  <a:pt x="496" y="206"/>
                </a:lnTo>
                <a:lnTo>
                  <a:pt x="497" y="212"/>
                </a:lnTo>
                <a:lnTo>
                  <a:pt x="498" y="218"/>
                </a:lnTo>
                <a:lnTo>
                  <a:pt x="499" y="224"/>
                </a:lnTo>
                <a:lnTo>
                  <a:pt x="499" y="231"/>
                </a:lnTo>
                <a:lnTo>
                  <a:pt x="500" y="237"/>
                </a:lnTo>
                <a:lnTo>
                  <a:pt x="500" y="244"/>
                </a:lnTo>
                <a:lnTo>
                  <a:pt x="500" y="250"/>
                </a:lnTo>
                <a:lnTo>
                  <a:pt x="500" y="256"/>
                </a:lnTo>
                <a:lnTo>
                  <a:pt x="500" y="263"/>
                </a:lnTo>
                <a:lnTo>
                  <a:pt x="499" y="269"/>
                </a:lnTo>
                <a:lnTo>
                  <a:pt x="499" y="276"/>
                </a:lnTo>
                <a:lnTo>
                  <a:pt x="498" y="282"/>
                </a:lnTo>
                <a:lnTo>
                  <a:pt x="497" y="288"/>
                </a:lnTo>
                <a:lnTo>
                  <a:pt x="496" y="294"/>
                </a:lnTo>
                <a:lnTo>
                  <a:pt x="495" y="300"/>
                </a:lnTo>
                <a:lnTo>
                  <a:pt x="494" y="306"/>
                </a:lnTo>
                <a:lnTo>
                  <a:pt x="492" y="312"/>
                </a:lnTo>
                <a:lnTo>
                  <a:pt x="491" y="318"/>
                </a:lnTo>
                <a:lnTo>
                  <a:pt x="489" y="324"/>
                </a:lnTo>
                <a:lnTo>
                  <a:pt x="487" y="330"/>
                </a:lnTo>
                <a:lnTo>
                  <a:pt x="485" y="336"/>
                </a:lnTo>
                <a:lnTo>
                  <a:pt x="483" y="340"/>
                </a:lnTo>
                <a:lnTo>
                  <a:pt x="110" y="340"/>
                </a:lnTo>
                <a:lnTo>
                  <a:pt x="110" y="43"/>
                </a:lnTo>
                <a:lnTo>
                  <a:pt x="110" y="43"/>
                </a:lnTo>
                <a:lnTo>
                  <a:pt x="115" y="39"/>
                </a:lnTo>
                <a:lnTo>
                  <a:pt x="120" y="36"/>
                </a:lnTo>
                <a:lnTo>
                  <a:pt x="126" y="33"/>
                </a:lnTo>
                <a:lnTo>
                  <a:pt x="131" y="30"/>
                </a:lnTo>
                <a:lnTo>
                  <a:pt x="136" y="27"/>
                </a:lnTo>
                <a:lnTo>
                  <a:pt x="142" y="25"/>
                </a:lnTo>
                <a:lnTo>
                  <a:pt x="147" y="22"/>
                </a:lnTo>
                <a:lnTo>
                  <a:pt x="153" y="20"/>
                </a:lnTo>
                <a:lnTo>
                  <a:pt x="158" y="17"/>
                </a:lnTo>
                <a:lnTo>
                  <a:pt x="164" y="15"/>
                </a:lnTo>
                <a:lnTo>
                  <a:pt x="170" y="13"/>
                </a:lnTo>
                <a:lnTo>
                  <a:pt x="176" y="11"/>
                </a:lnTo>
                <a:lnTo>
                  <a:pt x="182" y="9"/>
                </a:lnTo>
                <a:lnTo>
                  <a:pt x="188" y="8"/>
                </a:lnTo>
                <a:lnTo>
                  <a:pt x="194" y="6"/>
                </a:lnTo>
                <a:lnTo>
                  <a:pt x="200" y="5"/>
                </a:lnTo>
                <a:lnTo>
                  <a:pt x="206" y="4"/>
                </a:lnTo>
                <a:lnTo>
                  <a:pt x="212" y="3"/>
                </a:lnTo>
                <a:lnTo>
                  <a:pt x="218" y="2"/>
                </a:lnTo>
                <a:lnTo>
                  <a:pt x="224" y="1"/>
                </a:lnTo>
                <a:lnTo>
                  <a:pt x="231" y="1"/>
                </a:lnTo>
                <a:lnTo>
                  <a:pt x="237" y="0"/>
                </a:lnTo>
                <a:lnTo>
                  <a:pt x="244" y="0"/>
                </a:lnTo>
                <a:lnTo>
                  <a:pt x="250" y="0"/>
                </a:lnTo>
                <a:close/>
              </a:path>
            </a:pathLst>
          </a:custGeom>
          <a:gradFill>
            <a:gsLst>
              <a:gs pos="0">
                <a:srgbClr val="06B6D4">
                  <a:alpha val="22000"/>
                </a:srgbClr>
              </a:gs>
              <a:gs pos="7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alphaModFix amt="9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10300" y="381000"/>
            <a:ext cx="5524500" cy="6096000"/>
          </a:xfrm>
          <a:prstGeom prst="rect">
            <a:avLst/>
          </a:prstGeom>
          <a:ln/>
        </p:spPr>
      </p:pic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639175" y="6400800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64748B"/>
                </a:solidFill>
                <a:latin typeface="JetBrains Mono"/>
                <a:ea typeface="JetBrains Mono"/>
              </a:rPr>
              <a:t>BUCKET[ ] → NODE → TREENODE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800100"/>
            <a:ext cx="521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06B6D4"/>
                </a:solidFill>
                <a:latin typeface="JetBrains Mono"/>
                <a:ea typeface="JetBrains Mono"/>
              </a:rPr>
              <a:t xml:space="preserve">JAVA · </a:t>
            </a:r>
            <a:r>
              <a:rPr lang="zh-CN" sz="1200" spc="225">
                <a:solidFill>
                  <a:srgbClr val="06B6D4"/>
                </a:solidFill>
                <a:latin typeface="JetBrains Mono"/>
                <a:ea typeface="JetBrains Mono"/>
              </a:rPr>
              <a:t>集合框架</a:t>
            </a:r>
            <a:r>
              <a:rPr lang="en-US" sz="1200" spc="225">
                <a:solidFill>
                  <a:srgbClr val="06B6D4"/>
                </a:solidFill>
                <a:latin typeface="JetBrains Mono"/>
                <a:ea typeface="JetBrains Mono"/>
              </a:rPr>
              <a:t xml:space="preserve"> · JDK 1.8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1200150"/>
            <a:ext cx="52197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100" b="1" spc="-75">
                <a:solidFill>
                  <a:srgbClr val="FFFFFF"/>
                </a:solidFill>
                <a:latin typeface="思源黑体"/>
                <a:ea typeface="思源黑体"/>
              </a:rPr>
              <a:t>HashMap 1.8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2305050"/>
            <a:ext cx="5219700" cy="5334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CBD5E1"/>
                </a:solidFill>
                <a:latin typeface="思源黑体"/>
                <a:ea typeface="思源黑体"/>
              </a:rPr>
              <a:t>底层结构与</a:t>
            </a:r>
            <a:r>
              <a:rPr lang="en-US" sz="2550" b="1">
                <a:solidFill>
                  <a:srgbClr val="CBD5E1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2550" b="1">
                <a:solidFill>
                  <a:srgbClr val="CBD5E1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3105150"/>
            <a:ext cx="9144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85800" y="3467100"/>
            <a:ext cx="2009775" cy="400050"/>
          </a:xfrm>
          <a:prstGeom prst="roundRect">
            <a:avLst>
              <a:gd name="adj" fmla="val 2378571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7250" y="3562350"/>
            <a:ext cx="1666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思源黑体"/>
                <a:ea typeface="思源黑体"/>
              </a:rPr>
              <a:t>数组</a:t>
            </a:r>
            <a:r>
              <a:rPr lang="en-US" sz="1350">
                <a:solidFill>
                  <a:srgbClr val="E2E8F0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思源黑体"/>
                <a:ea typeface="思源黑体"/>
              </a:rPr>
              <a:t>链表</a:t>
            </a:r>
            <a:r>
              <a:rPr lang="en-US" sz="1350">
                <a:solidFill>
                  <a:srgbClr val="E2E8F0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思源黑体"/>
                <a:ea typeface="思源黑体"/>
              </a:rPr>
              <a:t>红黑树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809875" y="3467100"/>
            <a:ext cx="1466850" cy="400050"/>
          </a:xfrm>
          <a:prstGeom prst="roundRect">
            <a:avLst>
              <a:gd name="adj" fmla="val 2378571"/>
            </a:avLst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981325" y="356235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2E8F0"/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1350">
                <a:solidFill>
                  <a:srgbClr val="E2E8F0"/>
                </a:solidFill>
                <a:latin typeface="思源黑体"/>
                <a:ea typeface="思源黑体"/>
              </a:rPr>
              <a:t>扰动函数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85800" y="3981450"/>
            <a:ext cx="1571625" cy="400050"/>
          </a:xfrm>
          <a:prstGeom prst="roundRect">
            <a:avLst>
              <a:gd name="adj" fmla="val 2378571"/>
            </a:avLst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57250" y="4076700"/>
            <a:ext cx="122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CD34D"/>
                </a:solidFill>
                <a:latin typeface="JetBrains Mono"/>
                <a:ea typeface="JetBrains Mono"/>
              </a:rPr>
              <a:t>16 / 0.75 / 8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6210300"/>
            <a:ext cx="304800" cy="28575"/>
          </a:xfrm>
          <a:prstGeom prst="roundRect">
            <a:avLst>
              <a:gd name="adj" fmla="val 6666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23950" y="6124575"/>
            <a:ext cx="3190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源码学习笔记</a:t>
            </a: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复习串讲</a:t>
            </a: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一页一页讲到底层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3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目录：四章走完全流程&lt;/Text&gt;&#10;        &lt;Text style={{ fontSize: 14, color: '#64748B', letterSpacing: 1 }}&gt;共 04 章 · 全篇 18 页&lt;/Text&gt;&#10;    &lt;/Box&gt;&#10;&#10;    &lt;Box style={{ height: 540, padding: '0 72px', flexDirection: 'row', gap: 24 }}&gt;&#10;        &lt;Box style={{&#10;            width: 336,&#10;            height: 540,&#10;            padding: '40px 32px',&#10;            borderRadius: 16,&#10;            background: 'linear-gradient(135deg, #2563EB 0%, #06B6D4 100%)',&#10;            justifyContent: 'space-between'&#10;        }}&gt;&#10;            &lt;Box style={{ flexDirection: 'column', gap: 18 }}&gt;&#10;                &lt;Text style={{&#10;                    fontSize: 15,&#10;                    letterSpacing: 4,&#10;                    color: 'rgba(255,255,255,0.75)',&#10;                    fontFamily: 'JetBrains Mono, Consolas, monospace'&#10;                }}&gt;CONTENTS&lt;/Text&gt;&#10;                &lt;Text style={{ fontSize: 60, fontWeight: 'bold', color: '#FFFFFF', lineHeight: 1.1 }}&gt;目录&lt;/Text&gt;&#10;                &lt;Box style={{ width: 64, height: 5, borderRadius: 3, background: 'rgba(255,255,255,0.85)' }} /&gt;&#10;                &lt;Text style={{ fontSize: 19, color: 'rgba(255,255,255,0.92)', lineHeight: 1.6 }}&gt;&#10;                    按笔记原有四段结构推进，不增删章节、不调换顺序。&#10;                &lt;/Text&gt;&#10;            &lt;/Box&gt;&#10;            &lt;Box style={{ flexDirection: 'column', gap: 10 }}&gt;&#10;                &lt;Text style={{ fontSize: 17, color: 'rgba(255,255,255,0.9)' }}&gt;学什么 → 做什么 → 实践 → 问题&lt;/Text&gt;&#10;                &lt;Text style={{&#10;                    fontSize: 15,&#10;                    color: 'rgba(255,255,255,0.65)',&#10;                    fontFamily: 'JetBrains Mono, Consolas, monospace'&#10;                }}&gt;4 CHAPTERS · 18 SLIDES&lt;/Text&gt;&#10;            &lt;/Box&gt;&#10;        &lt;/Box&gt;&#10;&#10;        &lt;Box style={{ flex: 1, flexDirection: 'column', gap: 12 }}&gt;&#10;            &lt;Box style={{&#10;                flex: 1,&#10;                padding: '14px 22px',&#10;                borderRadius: 12,&#10;                background: 'rgba(37,99,235,0.06)',&#10;                borderLeft: '4px solid #2563EB',&#10;                flexDirection: 'row',&#10;                alignItems: 'center',&#10;                gap: 20&#10;            }}&gt;&#10;                &lt;Text style={{&#10;                    width: 54,&#10;                    fontSize: 30,&#10;                    fontWeight: 'bold',&#10;                    color: '#2563EB',&#10;                    fontFamily: 'JetBrains Mono, Consolas, monospace'&#10;                }}&gt;01&lt;/Text&gt;&#10;                &lt;Box style={{ flex: 1, flexDirection: 'column', gap: 6 }}&gt;&#10;                    &lt;Text style={{ fontSize: 23, fontWeight: 'bold', color: '#0F172A' }}&gt;一、学什么&lt;/Text&gt;&#10;                    &lt;Text style={{ fontSize: 17, color: '#475569', lineHeight: 1.5 }}&gt;&#10;                        先定靶：要握住的四个点——底层结构、hash 扰动函数、put 完整代码路径、三个关键数字。&#10;                    &lt;/Text&gt;&#10;                &lt;/Box&gt;&#10;                &lt;Text style={{&#10;                    fontSize: 17,&#10;                    color: '#64748B',&#10;                    fontFamily: 'JetBrains Mono, Consolas, monospace'&#10;                }}&gt;P03–P04&lt;/Text&gt;&#10;            &lt;/Box&gt;&#10;&#10;            &lt;Box style={{&#10;                flex: 1,&#10;                padding: '14px 22px',&#10;                borderRadius: 12,&#10;                background: 'rgba(6,182,212,0.08)',&#10;                borderLeft: '4px solid #06B6D4',&#10;                flexDirection: 'row',&#10;                alignItems: 'center',&#10;                gap: 20&#10;            }}&gt;&#10;                &lt;Text style={{&#10;                    width: 54,&#10;                    fontSize: 30,&#10;                    fontWeight: 'bold',&#10;                    color: '#06B6D4',&#10;                    fontFamily: 'JetBrains Mono, Consolas, monospace'&#10;                }}&gt;02&lt;/Text&gt;&#10;                &lt;Box style={{ flex: 1, flexDirection: 'column', gap: 6 }}&gt;&#10;                    &lt;Text style={{ fontSize: 23, fontWeight: 'bold', color: '#0F172A' }}&gt;二、做什么&lt;/Text&gt;&#10;                    &lt;Text style={{ fontSize: 17, color: '#475569', lineHeight: 1.5 }}&gt;&#10;                        主体部分：基础定义、6 个核心常量、树化判定、扰动与桶索引、put 五步、resize 迁移、get 分支。&#10;                    &lt;/Text&gt;&#10;                &lt;/Box&gt;&#10;                &lt;Text style={{&#10;                    fontSize: 17,&#10;                    color: '#64748B',&#10;                    fontFamily: 'JetBrains Mono, Consolas, monospace'&#10;                }}&gt;P05–P13&lt;/Text&gt;&#10;            &lt;/Box&gt;&#10;&#10;            &lt;Box style={{&#10;                flex: 1,&#10;                padding: '14px 22px',&#10;                borderRadius: 12,&#10;                background: 'rgba(37,99,235,0.06)',&#10;                borderLeft: '4px solid #2563EB',&#10;                flexDirection: 'row',&#10;                alignItems: 'center',&#10;                gap: 20&#10;            }}&gt;&#10;                &lt;Text style={{&#10;                    width: 54,&#10;                    fontSize: 30,&#10;                    fontWeight: 'bold',&#10;                    color: '#2563EB',&#10;                    fontFamily: 'JetBrains Mono, Consolas, monospace'&#10;                }}&gt;03&lt;/Text&gt;&#10;                &lt;Box style={{ flex: 1, flexDirection: 'column', gap: 6 }}&gt;&#10;                    &lt;Text style={{ fontSize: 23, fontWeight: 'bold', color: '#0F172A' }}&gt;三、实践&lt;/Text&gt;&#10;                    &lt;Text style={{ fontSize: 17, color: '#475569', lineHeight: 1.5 }}&gt;&#10;                        把流程收成四步伪代码，再把「位运算为何等价取模而且更快」挖到 CPU 周期那一层。&#10;                    &lt;/Text&gt;&#10;                &lt;/Box&gt;&#10;                &lt;Text style={{&#10;                    fontSize: 17,&#10;                    color: '#64748B',&#10;                    fontFamily: 'JetBrains Mono, Consolas, monospace'&#10;                }}&gt;P14–P15&lt;/Text&gt;&#10;            &lt;/Box&gt;&#10;&#10;            &lt;Box style={{&#10;                flex: 1,&#10;                padding: '14px 22px',&#10;                borderRadius: 12,&#10;                background: 'rgba(245,158,11,0.10)',&#10;                borderLeft: '4px solid #F59E0B',&#10;                flexDirection: 'row',&#10;                alignItems: 'center',&#10;                gap: 20&#10;            }}&gt;&#10;                &lt;Text style={{&#10;                    width: 54,&#10;                    fontSize: 30,&#10;                    fontWeight: 'bold',&#10;                    color: '#F59E0B',&#10;                    fontFamily: 'JetBrains Mono, Consolas, monospace'&#10;                }}&gt;04&lt;/Text&gt;&#10;                &lt;Box style={{ flex: 1, flexDirection: 'column', gap: 6 }}&gt;&#10;                    &lt;Text style={{ fontSize: 23, fontWeight: 'bold', color: '#0F172A' }}&gt;四、问题&lt;/Text&gt;&#10;                    &lt;Text style={{ fontSize: 17, color: '#475569', lineHeight: 1.5 }}&gt;&#10;                        三个自测问题反向校验：put 完整流程、位运算与取模的取舍、负载因子为何是 0.75。&#10;                    &lt;/Text&gt;&#10;                &lt;/Box&gt;&#10;                &lt;Text style={{&#10;                    fontSize: 17,&#10;                    color: '#64748B',&#10;                    fontFamily: 'JetBrains Mono, Consolas, monospace'&#10;                }}&gt;P16–P17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0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3286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目录：四章走完全流程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0096500" y="5905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共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04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全篇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18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页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85800" y="1143000"/>
            <a:ext cx="3200400" cy="5143500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90600" y="1524000"/>
            <a:ext cx="2590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FFFFFF">
                    <a:alpha val="75000"/>
                  </a:srgbClr>
                </a:solidFill>
                <a:latin typeface="JetBrains Mono"/>
                <a:ea typeface="JetBrains Mono"/>
              </a:rPr>
              <a:t>CONTENTS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90600" y="1866900"/>
            <a:ext cx="25908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FFFFFF"/>
                </a:solidFill>
                <a:latin typeface="思源黑体"/>
                <a:ea typeface="思源黑体"/>
              </a:rPr>
              <a:t>目录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990600" y="2800350"/>
            <a:ext cx="609600" cy="47625"/>
          </a:xfrm>
          <a:prstGeom prst="roundRect">
            <a:avLst>
              <a:gd name="adj" fmla="val 6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90600" y="3019425"/>
            <a:ext cx="25908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按笔记原有四段结构推进，不增删章节、不调换顺序。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990600" y="54387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学什么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做什么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实践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问题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90600" y="5734050"/>
            <a:ext cx="2590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65000"/>
                  </a:srgbClr>
                </a:solidFill>
                <a:latin typeface="JetBrains Mono"/>
                <a:ea typeface="JetBrains Mono"/>
              </a:rPr>
              <a:t>4 CHAPTERS · 18 SLIDES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4152900" y="1143000"/>
            <a:ext cx="7391400" cy="1200150"/>
          </a:xfrm>
          <a:prstGeom prst="roundRect">
            <a:avLst>
              <a:gd name="adj" fmla="val 9524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4152900" y="1143000"/>
            <a:ext cx="7391400" cy="1200150"/>
          </a:xfrm>
          <a:custGeom>
            <a:pathLst>
              <a:path w="776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362450" y="157162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067300" y="1285875"/>
            <a:ext cx="5410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一、学什么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067300" y="1609725"/>
            <a:ext cx="5410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先定靶：要握住的四个点——底层结构、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扰动函数、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完整代码路径、三个关键数字。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668000" y="1647825"/>
            <a:ext cx="62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JetBrains Mono"/>
                <a:ea typeface="JetBrains Mono"/>
              </a:rPr>
              <a:t>P03–P04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152900" y="2457450"/>
            <a:ext cx="7391400" cy="1200150"/>
          </a:xfrm>
          <a:prstGeom prst="roundRect">
            <a:avLst>
              <a:gd name="adj" fmla="val 9524"/>
            </a:avLst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4152900" y="2457450"/>
            <a:ext cx="7391400" cy="1200150"/>
          </a:xfrm>
          <a:custGeom>
            <a:pathLst>
              <a:path w="776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362450" y="28860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067300" y="2600325"/>
            <a:ext cx="5410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二、做什么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067300" y="2924175"/>
            <a:ext cx="5410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主体部分：基础定义、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6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个核心常量、树化判定、扰动与桶索引、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五步、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resize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迁移、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get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分支。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0668000" y="2962275"/>
            <a:ext cx="62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JetBrains Mono"/>
                <a:ea typeface="JetBrains Mono"/>
              </a:rPr>
              <a:t>P05–P13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152900" y="3771900"/>
            <a:ext cx="7391400" cy="1200150"/>
          </a:xfrm>
          <a:prstGeom prst="roundRect">
            <a:avLst>
              <a:gd name="adj" fmla="val 9524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4152900" y="3771900"/>
            <a:ext cx="7391400" cy="1200150"/>
          </a:xfrm>
          <a:custGeom>
            <a:pathLst>
              <a:path w="776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362450" y="420052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067300" y="3914775"/>
            <a:ext cx="5410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三、实践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067300" y="4238625"/>
            <a:ext cx="5410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把流程收成四步伪代码，再把「位运算为何等价取模而且更快」挖到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CPU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周期那一层。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668000" y="4276725"/>
            <a:ext cx="62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JetBrains Mono"/>
                <a:ea typeface="JetBrains Mono"/>
              </a:rPr>
              <a:t>P14–P15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152900" y="5086350"/>
            <a:ext cx="7391400" cy="1200150"/>
          </a:xfrm>
          <a:prstGeom prst="roundRect">
            <a:avLst>
              <a:gd name="adj" fmla="val 9524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4152900" y="5086350"/>
            <a:ext cx="7391400" cy="1200150"/>
          </a:xfrm>
          <a:custGeom>
            <a:pathLst>
              <a:path w="776" h="12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8"/>
                </a:lnTo>
                <a:cubicBezTo>
                  <a:pt x="4" y="122"/>
                  <a:pt x="7" y="125"/>
                  <a:pt x="10" y="126"/>
                </a:cubicBezTo>
                <a:cubicBezTo>
                  <a:pt x="4" y="125"/>
                  <a:pt x="0" y="120"/>
                  <a:pt x="0" y="11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362450" y="55149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067300" y="5229225"/>
            <a:ext cx="5410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四、问题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067300" y="5553075"/>
            <a:ext cx="5410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三个自测问题反向校验：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完整流程、位运算与取模的取舍、负载因子为何是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0.75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668000" y="5591175"/>
            <a:ext cx="62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JetBrains Mono"/>
                <a:ea typeface="JetBrains Mono"/>
              </a:rPr>
              <a:t>P16–P17</a:t>
            </a:r>
            <a:endParaRPr/>
          </a:p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1" name="" descr="&lt;Slide style={{&#10;    width: 1280,&#10;    height: 720,&#10;    padding: 0,&#10;    position: 'relative',&#10;    overflow: 'hidden',&#10;    flexDirection: 'row',&#10;    alignItems: 'center',&#10;    background: 'linear-gradient(135deg, #2563EB 0%, #06B6D4 100%)',&#10;    fontFamily: '思源黑体, Microsoft YaHei, sans-serif'&#10;}}&gt;&#10;    &lt;Box style={{ position: 'absolute', top: 0, left: 0, width: 1280, height: 720, opacity: 0.5 }}&gt;&#10;        &lt;svg width={1280} height={720} viewBox='0 0 1280 720'&gt;&#10;            &lt;line x1='0' y1='120' x2='1280' y2='120' stroke='rgba(255,255,255,0.16)' strokeWidth='1' /&gt;&#10;            &lt;line x1='0' y1='360' x2='1280' y2='360' stroke='rgba(255,255,255,0.16)' strokeWidth='1' /&gt;&#10;            &lt;line x1='0' y1='600' x2='1280' y2='600' stroke='rgba(255,255,255,0.16)' strokeWidth='1' /&gt;&#10;            &lt;rect x='760' y='140' width='132' height='52' rx='10' fill='rgba(255,255,255,0.10)' stroke='rgba(255,255,255,0.35)' strokeWidth='1.5' /&gt;&#10;            &lt;rect x='760' y='212' width='132' height='52' rx='10' fill='rgba(255,255,255,0.10)' stroke='rgba(255,255,255,0.35)' strokeWidth='1.5' /&gt;&#10;            &lt;rect x='760' y='284' width='132' height='52' rx='10' fill='rgba(255,255,255,0.26)' stroke='#FFFFFF' strokeWidth='2' /&gt;&#10;            &lt;rect x='760' y='356' width='132' height='52' rx='10' fill='rgba(255,255,255,0.10)' stroke='rgba(255,255,255,0.35)' strokeWidth='1.5' /&gt;&#10;            &lt;rect x='760' y='428' width='132' height='52' rx='10' fill='rgba(255,255,255,0.10)' stroke='rgba(255,255,255,0.35)' strokeWidth='1.5' /&gt;&#10;            &lt;rect x='760' y='500' width='132' height='52' rx='10' fill='rgba(255,255,255,0.10)' stroke='rgba(255,255,255,0.35)' strokeWidth='1.5' /&gt;&#10;            &lt;line x1='892' y1='310' x2='944' y2='310' stroke='#FFFFFF' strokeWidth='2.5' /&gt;&#10;            &lt;polygon points='950,310 938,303 938,317' fill='#FFFFFF' /&gt;&#10;            &lt;rect x='950' y='284' width='118' height='52' rx='10' fill='rgba(255,255,255,0.30)' stroke='#FFFFFF' strokeWidth='2' /&gt;&#10;            &lt;line x1='1068' y1='310' x2='1120' y2='310' stroke='rgba(255,255,255,0.7)' strokeWidth='2' /&gt;&#10;            &lt;rect x='1120' y='284' width='118' height='52' rx='10' fill='rgba(255,255,255,0.14)' stroke='rgba(255,255,255,0.65)' strokeWidth='1.5' /&gt;&#10;            &lt;circle cx='1256' cy='310' r='9' fill='none' stroke='rgba(255,255,255,0.7)' strokeWidth='2' /&gt;&#10;        &lt;/svg&gt;&#10;    &lt;/Box&gt;&#10;&#10;    &lt;Box style={{&#10;        position: 'absolute',&#10;        right: 60,&#10;        top: 40,&#10;        flexDirection: 'column',&#10;        alignItems: 'flex-end'&#10;    }}&gt;&#10;        &lt;Text style={{&#10;            fontSize: 240,&#10;            fontWeight: 'bold',&#10;            lineHeight: 1,&#10;            letterSpacing: -12,&#10;            color: 'rgba(255,255,255,0.22)',&#10;            fontFamily: 'JetBrains Mono, Consolas, monospace'&#10;        }}&gt;01&lt;/Text&gt;&#10;    &lt;/Box&gt;&#10;&#10;    &lt;Box style={{ padding: '0 0 0 96px', flexDirection: 'column', gap: 26, position: 'relative', zIndex: 1 }}&gt;&#10;        &lt;Text style={{&#10;            fontSize: 18,&#10;            letterSpacing: 4,&#10;            color: 'rgba(255,255,255,0.85)',&#10;            fontFamily: 'JetBrains Mono, Consolas, monospace'&#10;        }}&gt;CHAPTER 01 / 04 · P03–P04&lt;/Text&gt;&#10;&#10;        &lt;Text style={{ fontSize: 64, fontWeight: 'bold', lineHeight: 1.1, letterSpacing: 2, color: '#FFFFFF' }}&gt;&#10;            一、学什么&#10;        &lt;/Text&gt;&#10;&#10;        &lt;Box style={{ width: 120, height: 6, borderRadius: 3, background: 'rgba(255,255,255,0.9)' }} /&gt;&#10;&#10;        &lt;Text style={{ fontSize: 24, lineHeight: 1.5, color: 'rgba(255,255,255,0.95)', width: 620 }}&gt;&#10;            先定靶：这一节要握住的四个点——底层结构、hash 扰动函数、put 完整代码路径、三个关键数字。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334500" y="381000"/>
            <a:ext cx="22860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 spc="-900">
                <a:solidFill>
                  <a:srgbClr val="FFFFFF">
                    <a:alpha val="22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14400" y="210502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FFFFFF">
                    <a:alpha val="85000"/>
                  </a:srgbClr>
                </a:solidFill>
                <a:latin typeface="JetBrains Mono"/>
                <a:ea typeface="JetBrains Mono"/>
              </a:rPr>
              <a:t>CHAPTER 01 / 04 · P03–P04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14400" y="2562225"/>
            <a:ext cx="59055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一、学什么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914400" y="36195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914400" y="3924300"/>
            <a:ext cx="5905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先定靶：这一节要握住的四个点——底层结构、</a:t>
            </a:r>
            <a:r>
              <a:rPr lang="en-US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扰动函数、</a:t>
            </a:r>
            <a:r>
              <a:rPr lang="en-US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完整代码路径、三个关键数字。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9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四件必须能讲清的事&lt;/Text&gt;&#10;        &lt;Text style={{ fontSize: 14, color: '#64748B', letterSpacing: 1 }}&gt;第 01 章 / 共 04 章&lt;/Text&gt;&#10;    &lt;/Box&gt;&#10;&#10;    &lt;Box style={{ height: 540, padding: '0 72px', flexDirection: 'row', gap: 32 }}&gt;&#10;        &lt;Box style={{ width: 380, height: 540, flexDirection: 'column', justifyContent: 'center', gap: 16 }}&gt;&#10;            &lt;svg width={380} height={470} viewBox='0 0 380 470'&gt;&#10;                &lt;line x1='20' y1='60' x2='360' y2='60' stroke='rgba(15,23,42,0.06)' strokeWidth='1' /&gt;&#10;                &lt;line x1='20' y1='180' x2='360' y2='180' stroke='rgba(15,23,42,0.06)' strokeWidth='1' /&gt;&#10;                &lt;line x1='20' y1='300' x2='360' y2='300' stroke='rgba(15,23,42,0.06)' strokeWidth='1' /&gt;&#10;                &lt;line x1='20' y1='420' x2='360' y2='420' stroke='rgba(15,23,42,0.06)' strokeWidth='1' /&gt;&#10;&#10;                &lt;rect x='98' y='18' width='184' height='78' rx='12' fill='rgba(37,99,235,0.10)' stroke='#2563EB' strokeWidth='2' /&gt;&#10;                &lt;rect x='124' y='44' width='18' height='26' rx='3' fill='#2563EB' opacity='0.85' /&gt;&#10;                &lt;circle cx='168' cy='57' r='13' fill='none' stroke='#2563EB' strokeWidth='3' /&gt;&#10;                &lt;line x1='181' y1='57' x2='200' y2='57' stroke='#2563EB' strokeWidth='3' /&gt;&#10;                &lt;circle cx='213' cy='57' r='13' fill='none' stroke='#06B6D4' strokeWidth='3' /&gt;&#10;                &lt;circle cx='240' cy='44' r='8' fill='#F59E0B' opacity='0.9' /&gt;&#10;                &lt;circle cx='240' cy='70' r='8' fill='#0F172A' opacity='0.45' /&gt;&#10;&#10;                &lt;line x1='190' y1='100' x2='190' y2='128' stroke='#0F172A' strokeWidth='2' opacity='0.45' /&gt;&#10;                &lt;polygon points='190,138 184,126 196,126' fill='#0F172A' opacity='0.45' /&gt;&#10;&#10;                &lt;rect x='98' y='148' width='184' height='78' rx='12' fill='rgba(6,182,212,0.12)' stroke='#06B6D4' strokeWidth='2' /&gt;&#10;                &lt;rect x='122' y='174' width='42' height='26' rx='4' fill='#06B6D4' opacity='0.8' /&gt;&#10;                &lt;line x1='176' y1='187' x2='204' y2='187' stroke='#06B6D4' strokeWidth='3' /&gt;&#10;                &lt;rect x='204' y='174' width='42' height='26' rx='4' fill='#2563EB' opacity='0.8' /&gt;&#10;&#10;                &lt;line x1='190' y1='230' x2='190' y2='258' stroke='#0F172A' strokeWidth='2' opacity='0.45' /&gt;&#10;                &lt;polygon points='190,268 184,256 196,256' fill='#0F172A' opacity='0.45' /&gt;&#10;&#10;                &lt;rect x='98' y='278' width='184' height='78' rx='12' fill='rgba(37,99,235,0.10)' stroke='#2563EB' strokeWidth='2' /&gt;&#10;                &lt;rect x='124' y='296' width='26' height='18' rx='3' fill='#2563EB' opacity='0.75' /&gt;&#10;                &lt;rect x='124' y='320' width='26' height='18' rx='3' fill='#2563EB' opacity='0.55' /&gt;&#10;                &lt;circle cx='182' cy='317' r='10' fill='#F59E0B' opacity='0.9' /&gt;&#10;                &lt;line x1='194' y1='317' x2='222' y2='317' stroke='#2563EB' strokeWidth='3' /&gt;&#10;                &lt;rect x='232' y='304' width='30' height='26' rx='4' fill='#06B6D4' opacity='0.75' /&gt;&#10;&#10;                &lt;line x1='190' y1='360' x2='190' y2='388' stroke='#0F172A' strokeWidth='2' opacity='0.45' /&gt;&#10;                &lt;polygon points='190,398 184,386 196,386' fill='#0F172A' opacity='0.45' /&gt;&#10;&#10;                &lt;rect x='98' y='408' width='184' height='78' rx='12' fill='rgba(245,158,11,0.14)' stroke='#F59E0B' strokeWidth='2.5' /&gt;&#10;                &lt;circle cx='148' cy='447' r='17' fill='none' stroke='#F59E0B' strokeWidth='3' /&gt;&#10;                &lt;circle cx='190' cy='447' r='17' fill='none' stroke='#0F172A' strokeWidth='3' opacity='0.55' /&gt;&#10;                &lt;circle cx='232' cy='447' r='17' fill='none' stroke='#06B6D4' strokeWidth='3' /&gt;&#10;            &lt;/svg&gt;&#10;            &lt;Text style={{ fontSize: 17, color: '#64748B', textAlign: 'center' }}&gt;&#10;                视觉链路：结构 → 扰动 → put → 数字&#10;            &lt;/Text&gt;&#10;        &lt;/Box&gt;&#10;&#10;        &lt;Box style={{ flex: 1, height: 540, flexDirection: 'column', justifyContent: 'space-between' }}&gt;&#10;            &lt;Box style={{ padding: '14px 20px', borderRadius: 12, background: 'rgba(37,99,235,0.06)', flexDirection: 'row', gap: 20 }}&gt;&#10;                &lt;Text style={{&#10;                    width: 48,&#10;                    fontSize: 26,&#10;                    fontWeight: 'bold',&#10;                    color: '#2563EB',&#10;                    fontFamily: 'JetBrains Mono, Consolas, monospace'&#10;                }}&gt;01&lt;/Text&gt;&#10;                &lt;Box style={{ flex: 1, flexDirection: 'column', gap: 8 }}&gt;&#10;                    &lt;Text style={{ fontSize: 23, fontWeight: 'bold', color: '#0F172A' }}&gt;底层结构：数组 + 链表 + 红黑树&lt;/Text&gt;&#10;                    &lt;Text style={{ fontSize: 18, color: '#475569', lineHeight: 1.45 }}&gt;&#10;                        桶数组存桶头节点；链表用拉链法解决哈希冲突；桶内节点长到 8 且桶数 ≥ 64 时升级为红黑树。&#10;                    &lt;/Text&gt;&#10;                &lt;/Box&gt;&#10;            &lt;/Box&gt;&#10;&#10;            &lt;Box style={{ padding: '14px 20px', borderRadius: 12, background: 'rgba(6,182,212,0.09)', flexDirection: 'row', gap: 20 }}&gt;&#10;                &lt;Text style={{&#10;                    width: 48,&#10;                    fontSize: 26,&#10;                    fontWeight: 'bold',&#10;                    color: '#06B6D4',&#10;                    fontFamily: 'JetBrains Mono, Consolas, monospace'&#10;                }}&gt;02&lt;/Text&gt;&#10;                &lt;Box style={{ flex: 1, flexDirection: 'column', gap: 8 }}&gt;&#10;                    &lt;Text style={{ fontSize: 23, fontWeight: 'bold', color: '#0F172A' }}&gt;hash 扰动函数：高低 16 位混合&lt;/Text&gt;&#10;                    &lt;Text style={{ fontSize: 18, color: '#475569', lineHeight: 1.45 }}&gt;&#10;                        把 hashCode 的高 16 位无符号右移后与低位异或，让高位信息参与桶下标运算，压低碰撞概率。&#10;                    &lt;/Text&gt;&#10;                &lt;/Box&gt;&#10;            &lt;/Box&gt;&#10;&#10;            &lt;Box style={{ padding: '14px 20px', borderRadius: 12, background: 'rgba(37,99,235,0.06)', flexDirection: 'row', gap: 20 }}&gt;&#10;                &lt;Text style={{&#10;                    width: 48,&#10;                    fontSize: 26,&#10;                    fontWeight: 'bold',&#10;                    color: '#2563EB',&#10;                    fontFamily: 'JetBrains Mono, Consolas, monospace'&#10;                }}&gt;03&lt;/Text&gt;&#10;                &lt;Box style={{ flex: 1, flexDirection: 'column', gap: 8 }}&gt;&#10;                    &lt;Text style={{ fontSize: 23, fontWeight: 'bold', color: '#0F172A' }}&gt;put 的完整代码路径&lt;/Text&gt;&#10;                    &lt;Text style={{ fontSize: 18, color: '#475569', lineHeight: 1.45 }}&gt;&#10;                        入口调 putVal：懒加载初始化 → 算桶下标 → 桶空直插或按桶头类型分叉 → 判树化 → 判扩容。&#10;                    &lt;/Text&gt;&#10;                &lt;/Box&gt;&#10;            &lt;/Box&gt;&#10;&#10;            &lt;Box style={{ padding: '14px 20px', borderRadius: 12, background: 'rgba(245,158,11,0.10)', flexDirection: 'row', gap: 20 }}&gt;&#10;                &lt;Text style={{&#10;                    width: 48,&#10;                    fontSize: 26,&#10;                    fontWeight: 'bold',&#10;                    color: '#F59E0B',&#10;                    fontFamily: 'JetBrains Mono, Consolas, monospace'&#10;                }}&gt;04&lt;/Text&gt;&#10;                &lt;Box style={{ flex: 1, flexDirection: 'column', gap: 8 }}&gt;&#10;                    &lt;Text style={{ fontSize: 23, fontWeight: 'bold', color: '#0F172A' }}&gt;三个关键数字：16 / 0.75 / 8&lt;/Text&gt;&#10;                    &lt;Text style={{ fontSize: 18, color: '#475569', lineHeight: 1.45 }}&gt;&#10;                        默认容量 16 让位运算成立，负载因子 0.75 折中时间与空间，树化阈值 8 背后是泊松分布。&#10;                    &lt;/Text&gt;&#10;                &lt;/Box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0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2962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四件必须能讲清的事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0220325" y="59055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01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共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04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endParaRPr/>
          </a:p>
        </p:txBody>
      </p:sp>
      <p:pic>
        <p:nvPicPr>
          <p:cNvPr id="3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304925"/>
            <a:ext cx="3619500" cy="4476750"/>
          </a:xfrm>
          <a:prstGeom prst="rect">
            <a:avLst/>
          </a:prstGeom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85800" y="5934075"/>
            <a:ext cx="361950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视觉链路：结构</a:t>
            </a: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扰动</a:t>
            </a: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 xml:space="preserve"> → put →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数字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610100" y="1143000"/>
            <a:ext cx="6896100" cy="1209675"/>
          </a:xfrm>
          <a:prstGeom prst="roundRect">
            <a:avLst>
              <a:gd name="adj" fmla="val 9449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800600" y="1276350"/>
            <a:ext cx="457200" cy="942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448300" y="1276350"/>
            <a:ext cx="586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底层结构：数组</a:t>
            </a: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链表</a:t>
            </a: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红黑树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448300" y="1619250"/>
            <a:ext cx="5867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桶数组存桶头节点；链表用拉链法解决哈希冲突；桶内节点长到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8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且桶数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≥ 64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时升级为红黑树。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4610100" y="2457450"/>
            <a:ext cx="6896100" cy="1209675"/>
          </a:xfrm>
          <a:prstGeom prst="roundRect">
            <a:avLst>
              <a:gd name="adj" fmla="val 9449"/>
            </a:avLst>
          </a:prstGeom>
          <a:solidFill>
            <a:srgbClr val="06B6D4">
              <a:alpha val="9000"/>
            </a:srgbClr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800600" y="2590800"/>
            <a:ext cx="457200" cy="942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448300" y="2590800"/>
            <a:ext cx="586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扰动函数：高低</a:t>
            </a: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位混合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448300" y="2933700"/>
            <a:ext cx="5867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把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hashCode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的高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位无符号右移后与低位异或，让高位信息参与桶下标运算，压低碰撞概率。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610100" y="3762375"/>
            <a:ext cx="6896100" cy="1209675"/>
          </a:xfrm>
          <a:prstGeom prst="roundRect">
            <a:avLst>
              <a:gd name="adj" fmla="val 9449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800600" y="3895725"/>
            <a:ext cx="457200" cy="942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448300" y="3895725"/>
            <a:ext cx="586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的完整代码路径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448300" y="4238625"/>
            <a:ext cx="5867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入口调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putVal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：懒加载初始化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算桶下标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桶空直插或按桶头类型分叉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判树化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判扩容。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610100" y="5076825"/>
            <a:ext cx="6896100" cy="1209675"/>
          </a:xfrm>
          <a:prstGeom prst="roundRect">
            <a:avLst>
              <a:gd name="adj" fmla="val 9449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800600" y="5210175"/>
            <a:ext cx="457200" cy="942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59E0B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5448300" y="5210175"/>
            <a:ext cx="58674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三个关键数字：</a:t>
            </a: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>16 / 0.75 / 8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448300" y="5553075"/>
            <a:ext cx="5867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默认容量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让位运算成立，负载因子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0.75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折中时间与空间，树化阈值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8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背后是泊松分布。</a:t>
            </a:r>
            <a:endParaRPr/>
          </a:p>
        </p:txBody>
      </p:sp>
      <p:pic>
        <p:nvPicPr>
          <p:cNvPr id="3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4" name="" descr="&lt;Slide style={{&#13;&#10;    width: 1280,&#13;&#10;    height: 720,&#13;&#10;    padding: 0,&#13;&#10;    position: 'relative',&#13;&#10;    overflow: 'hidden',&#13;&#10;    flexDirection: 'row',&#13;&#10;    alignItems: 'center',&#13;&#10;    background: 'linear-gradient(135deg, #2563EB 0%, #06B6D4 100%)',&#13;&#10;    fontFamily: '思源黑体, Microsoft YaHei, sans-serif'&#13;&#10;}}&gt;&#13;&#10;    &lt;Box style={{ position: 'absolute', top: 0, left: 0, width: 1280, height: 720, opacity: 0.5 }}&gt;&#13;&#10;        &lt;svg width={1280} height={720} viewBox='0 0 1280 720'&gt;&#13;&#10;            &lt;line x1='0' y1='120' x2='1280' y2='120' stroke='rgba(255,255,255,0.16)' strokeWidth='1' /&gt;&#13;&#10;            &lt;line x1='0' y1='360' x2='1280' y2='360' stroke='rgba(255,255,255,0.16)' strokeWidth='1' /&gt;&#13;&#10;            &lt;line x1='0' y1='600' x2='1280' y2='600' stroke='rgba(255,255,255,0.16)' strokeWidth='1' /&gt;&#13;&#10;            &lt;rect x='760' y='140' width='132' height='52' rx='10' fill='rgba(255,255,255,0.10)' stroke='rgba(255,255,255,0.35)' strokeWidth='1.5' /&gt;&#13;&#10;            &lt;rect x='760' y='212' width='132' height='52' rx='10' fill='rgba(255,255,255,0.10)' stroke='rgba(255,255,255,0.35)' strokeWidth='1.5' /&gt;&#13;&#10;            &lt;rect x='760' y='284' width='132' height='52' rx='10' fill='rgba(255,255,255,0.26)' stroke='#FFFFFF' strokeWidth='2' /&gt;&#13;&#10;            &lt;rect x='760' y='356' width='132' height='52' rx='10' fill='rgba(255,255,255,0.10)' stroke='rgba(255,255,255,0.35)' strokeWidth='1.5' /&gt;&#13;&#10;            &lt;rect x='760' y='428' width='132' height='52' rx='10' fill='rgba(255,255,255,0.10)' stroke='rgba(255,255,255,0.35)' strokeWidth='1.5' /&gt;&#13;&#10;            &lt;rect x='760' y='500' width='132' height='52' rx='10' fill='rgba(255,255,255,0.10)' stroke='rgba(255,255,255,0.35)' strokeWidth='1.5' /&gt;&#13;&#10;            &lt;line x1='892' y1='310' x2='944' y2='310' stroke='#FFFFFF' strokeWidth='2.5' /&gt;&#13;&#10;            &lt;polygon points='950,310 938,303 938,317' fill='#FFFFFF' /&gt;&#13;&#10;            &lt;rect x='950' y='284' width='118' height='52' rx='10' fill='rgba(255,255,255,0.30)' stroke='#FFFFFF' strokeWidth='2' /&gt;&#13;&#10;            &lt;line x1='1068' y1='310' x2='1120' y2='310' stroke='rgba(255,255,255,0.7)' strokeWidth='2' /&gt;&#13;&#10;            &lt;rect x='1120' y='284' width='118' height='52' rx='10' fill='rgba(255,255,255,0.14)' stroke='rgba(255,255,255,0.65)' strokeWidth='1.5' /&gt;&#13;&#10;            &lt;circle cx='1256' cy='310' r='9' fill='none' stroke='rgba(255,255,255,0.7)' strokeWidth='2' /&gt;&#13;&#10;        &lt;/svg&gt;&#13;&#10;    &lt;/Box&gt;&#13;&#10;&#13;&#10;    &lt;Box style={{&#13;&#10;        position: 'absolute',&#13;&#10;        right: 60,&#13;&#10;        top: 40,&#13;&#10;        flexDirection: 'column',&#13;&#10;        alignItems: 'flex-end'&#13;&#10;    }}&gt;&#13;&#10;        &lt;Text style={{&#13;&#10;            fontSize: 240,&#13;&#10;            fontWeight: 'bold',&#13;&#10;            lineHeight: 1,&#13;&#10;            letterSpacing: -12,&#13;&#10;            color: 'rgba(255,255,255,0.22)',&#13;&#10;            fontFamily: 'JetBrains Mono, Consolas, monospace'&#13;&#10;        }}&gt;02&lt;/Text&gt;&#13;&#10;    &lt;/Box&gt;&#13;&#10;&#13;&#10;    &lt;Box style={{ padding: '0 0 0 96px', flexDirection: 'column', gap: 26, position: 'relative', zIndex: 1 }}&gt;&#13;&#10;        &lt;Text style={{&#13;&#10;            fontSize: 18,&#13;&#10;            letterSpacing: 4,&#13;&#10;            color: 'rgba(255,255,255,0.85)',&#13;&#10;            fontFamily: 'JetBrains Mono, Consolas, monospace'&#13;&#10;        }}&gt;CHAPTER 02 / 04 · P05–P13&lt;/Text&gt;&#13;&#10;&#13;&#10;        &lt;Text style={{ fontSize: 64, fontWeight: 'bold', lineHeight: 1.1, letterSpacing: 2, color: '#FFFFFF' }}&gt;&#13;&#10;            二、做什么&#13;&#10;        &lt;/Text&gt;&#13;&#10;&#13;&#10;        &lt;Box style={{ width: 120, height: 6, borderRadius: 3, background: 'rgba(255,255,255,0.9)' }} /&gt;&#13;&#10;&#13;&#10;        &lt;Text style={{ fontSize: 24, lineHeight: 1.5, color: 'rgba(255,255,255,0.95)', width: 620 }}&gt;&#13;&#10;            主体部分：六个知识点从基础定义一路推到扩容迁移，再加三条追问。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96" name="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9334500" y="381000"/>
            <a:ext cx="22860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 spc="-900">
                <a:solidFill>
                  <a:srgbClr val="FFFFFF">
                    <a:alpha val="22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14400" y="210502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FFFFFF">
                    <a:alpha val="85000"/>
                  </a:srgbClr>
                </a:solidFill>
                <a:latin typeface="JetBrains Mono"/>
                <a:ea typeface="JetBrains Mono"/>
              </a:rPr>
              <a:t>CHAPTER 02 / 04 · P05–P13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914400" y="2562225"/>
            <a:ext cx="59055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二、做什么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914400" y="36195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14400" y="3924300"/>
            <a:ext cx="5905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主体部分：六个知识点从基础定义一路推到扩容迁移，再加三条追问。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2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基础定义：数组 + 链表 + 红黑树&lt;/Text&gt;&#10;        &lt;Text style={{ fontSize: 14, color: '#64748B', letterSpacing: 1 }}&gt;第 02 章 / 知识点 01&lt;/Text&gt;&#10;    &lt;/Box&gt;&#10;&#10;    &lt;Box style={{ height: 540, padding: '0 72px', flexDirection: 'row', gap: 36 }}&gt;&#10;        &lt;Box style={{ width: 640, height: 540, flexDirection: 'column', justifyContent: 'center', gap: 12 }}&gt;&#10;            &lt;svg width={640} height={470} viewBox='0 0 640 470'&gt;&#10;                &lt;line x1='10' y1='20' x2='630' y2='20' stroke='rgba(15,23,42,0.06)' strokeWidth='1' /&gt;&#10;                &lt;line x1='10' y1='160' x2='630' y2='160' stroke='rgba(15,23,42,0.06)' strokeWidth='1' /&gt;&#10;                &lt;line x1='10' y1='300' x2='630' y2='300' stroke='rgba(15,23,42,0.06)' strokeWidth='1' /&gt;&#10;                &lt;line x1='10' y1='440' x2='630' y2='440' stroke='rgba(15,23,42,0.06)' strokeWidth='1' /&gt;&#10;&#10;                &lt;rect x='20' y='16' width='150' height='40' rx='8' fill='rgba(37,99,235,0.07)' stroke='rgba(15,23,42,0.25)' strokeWidth='1' /&gt;&#10;                &lt;rect x='20' y='66' width='150' height='40' rx='8' fill='rgba(6,182,212,0.20)' stroke='#06B6D4' strokeWidth='2.5' /&gt;&#10;                &lt;rect x='20' y='116' width='150' height='40' rx='8' fill='rgba(37,99,235,0.07)' stroke='rgba(15,23,42,0.25)' strokeWidth='1' /&gt;&#10;                &lt;rect x='20' y='166' width='150' height='40' rx='8' fill='rgba(37,99,235,0.07)' stroke='rgba(15,23,42,0.25)' strokeWidth='1' /&gt;&#10;                &lt;rect x='20' y='216' width='150' height='40' rx='8' fill='rgba(245,158,11,0.18)' stroke='#F59E0B' strokeWidth='2.5' /&gt;&#10;                &lt;rect x='20' y='266' width='150' height='40' rx='8' fill='rgba(37,99,235,0.07)' stroke='rgba(15,23,42,0.25)' strokeWidth='1' /&gt;&#10;                &lt;rect x='20' y='316' width='150' height='40' rx='8' fill='rgba(37,99,235,0.07)' stroke='rgba(15,23,42,0.25)' strokeWidth='1' /&gt;&#10;                &lt;rect x='20' y='366' width='150' height='40' rx='8' fill='rgba(37,99,235,0.07)' stroke='rgba(15,23,42,0.25)' strokeWidth='1' /&gt;&#10;&#10;                &lt;line x1='170' y1='86' x2='200' y2='86' stroke='#06B6D4' strokeWidth='2.5' /&gt;&#10;                &lt;polygon points='206,86 194,79 194,93' fill='#06B6D4' /&gt;&#10;                &lt;rect x='206' y='64' width='128' height='44' rx='8' fill='rgba(6,182,212,0.14)' stroke='#06B6D4' strokeWidth='2.5' /&gt;&#10;                &lt;circle cx='232' cy='86' r='7' fill='#06B6D4' /&gt;&#10;                &lt;line x1='248' y1='86' x2='292' y2='86' stroke='#06B6D4' strokeWidth='2' opacity='0.7' /&gt;&#10;                &lt;circle cx='300' cy='86' r='7' fill='#06B6D4' opacity='0.7' /&gt;&#10;                &lt;line x1='334' y1='86' x2='364' y2='86' stroke='#06B6D4' strokeWidth='2.5' /&gt;&#10;                &lt;polygon points='370,86 358,79 358,93' fill='#06B6D4' /&gt;&#10;                &lt;rect x='370' y='64' width='128' height='44' rx='8' fill='rgba(37,99,235,0.08)' stroke='#06B6D4' strokeWidth='2' /&gt;&#10;                &lt;circle cx='396' cy='86' r='7' fill='#06B6D4' /&gt;&#10;                &lt;line x1='412' y1='86' x2='456' y2='86' stroke='#06B6D4' strokeWidth='2' opacity='0.7' /&gt;&#10;                &lt;circle cx='464' cy='86' r='7' fill='#06B6D4' opacity='0.7' /&gt;&#10;                &lt;line x1='498' y1='86' x2='528' y2='86' stroke='rgba(15,23,42,0.35)' strokeWidth='2' /&gt;&#10;                &lt;circle cx='538' cy='86' r='9' fill='none' stroke='rgba(15,23,42,0.35)' strokeWidth='2' /&gt;&#10;&#10;                &lt;line x1='170' y1='236' x2='234' y2='236' stroke='#F59E0B' strokeWidth='2.5' /&gt;&#10;                &lt;polygon points='240,236 228,229 228,243' fill='#F59E0B' /&gt;&#10;                &lt;rect x='240' y='214' width='128' height='44' rx='8' fill='rgba(245,158,11,0.22)' stroke='#F59E0B' strokeWidth='2.5' /&gt;&#10;                &lt;circle cx='304' cy='236' r='11' fill='#F59E0B' /&gt;&#10;                &lt;line x1='274' y1='258' x2='240' y2='300' stroke='rgba(245,158,11,0.8)' strokeWidth='2' /&gt;&#10;                &lt;line x1='334' y1='258' x2='368' y2='300' stroke='rgba(245,158,11,0.8)' strokeWidth='2' /&gt;&#10;                &lt;rect x='174' y='300' width='124' height='40' rx='8' fill='rgba(6,182,212,0.12)' stroke='#06B6D4' strokeWidth='2' /&gt;&#10;                &lt;circle cx='236' cy='320' r='9' fill='#06B6D4' /&gt;&#10;                &lt;rect x='314' y='300' width='124' height='40' rx='8' fill='rgba(15,23,42,0.06)' stroke='rgba(15,23,42,0.45)' strokeWidth='2' /&gt;&#10;                &lt;circle cx='376' cy='320' r='9' fill='#0F172A' opacity='0.55' /&gt;&#10;                &lt;line x1='236' y1='340' x2='236' y2='364' stroke='rgba(6,182,212,0.75)' strokeWidth='2' /&gt;&#10;                &lt;line x1='376' y1='340' x2='376' y2='364' stroke='rgba(15,23,42,0.4)' strokeWidth='2' /&gt;&#10;                &lt;circle cx='236' cy='376' r='9' fill='rgba(6,182,212,0.22)' stroke='#06B6D4' strokeWidth='2' /&gt;&#10;                &lt;circle cx='376' cy='376' r='9' fill='rgba(15,23,42,0.10)' stroke='rgba(15,23,42,0.45)' strokeWidth='2' /&gt;&#10;                &lt;circle cx='490' cy='340' r='9' fill='none' stroke='rgba(15,23,42,0.35)' strokeWidth='2' /&gt;&#10;                &lt;circle cx='570' cy='340' r='9' fill='none' stroke='rgba(15,23,42,0.35)' strokeWidth='2' /&gt;&#10;            &lt;/svg&gt;&#10;&#10;            &lt;Box style={{ flexDirection: 'row', gap: 12, justifyContent: 'center' }}&gt;&#10;                &lt;Box style={{ padding: '7px 16px', borderRadius: 999, background: 'rgba(37,99,235,0.10)' }}&gt;&#10;                    &lt;Text style={{ fontSize: 16, color: '#2563EB' }}&gt;bucket 数组&lt;/Text&gt;&#10;                &lt;/Box&gt;&#10;                &lt;Box style={{ padding: '7px 16px', borderRadius: 999, background: 'rgba(6,182,212,0.12)' }}&gt;&#10;                    &lt;Text style={{ fontSize: 16, color: '#0891B2' }}&gt;Node 链表&lt;/Text&gt;&#10;                &lt;/Box&gt;&#10;                &lt;Box style={{ padding: '7px 16px', borderRadius: 999, background: 'rgba(245,158,11,0.14)' }}&gt;&#10;                    &lt;Text style={{ fontSize: 16, color: '#B45309' }}&gt;TreeNode 红黑树&lt;/Text&gt;&#10;                &lt;/Box&gt;&#10;            &lt;/Box&gt;&#10;        &lt;/Box&gt;&#10;&#10;        &lt;Box style={{ flex: 1, height: 540, flexDirection: 'column', justifyContent: 'space-between' }}&gt;&#10;            &lt;Box style={{ padding: '16px 20px', borderRadius: 12, background: 'rgba(37,99,235,0.07)' }}&gt;&#10;                &lt;Text style={{ fontSize: 18, color: '#0F172A', lineHeight: 1.5 }}&gt;&#10;                    HashMap 实现 Map 接口：键唯一、值可重复、线程不安全；底层是哈希表，平均查找 O(1)。&#10;                &lt;/Text&gt;&#10;            &lt;/Box&gt;&#10;&#10;            &lt;Box style={{ padding: '14px 20px', borderRadius: 12, borderLeft: '4px solid #2563EB', background: '#F8FAFC' }}&gt;&#10;                &lt;Text style={{ fontSize: 20, fontWeight: 'bold', color: '#2563EB' }}&gt;数组 · 哈希桶 bucket&lt;/Text&gt;&#10;                &lt;Text style={{ fontSize: 18, color: '#475569', lineHeight: 1.5, marginTop: 8 }}&gt;&#10;                    每个桶只存桶头节点，桶的数量就是 table 数组长度；容量始终被强制为 2 的幂。&#10;                &lt;/Text&gt;&#10;            &lt;/Box&gt;&#10;&#10;            &lt;Box style={{ padding: '14px 20px', borderRadius: 12, borderLeft: '4px solid #06B6D4', background: '#F8FAFC' }}&gt;&#10;                &lt;Text style={{ fontSize: 20, fontWeight: 'bold', color: '#0891B2' }}&gt;链表 · Node&lt;/Text&gt;&#10;                &lt;Text style={{ fontSize: 18, color: '#475569', lineHeight: 1.5, marginTop: 8 }}&gt;&#10;                    链表用拉链法解决哈希冲突；节点 Node 内含 hash、key、value、next 四个字段。&#10;                &lt;/Text&gt;&#10;            &lt;/Box&gt;&#10;&#10;            &lt;Box style={{ padding: '14px 20px', borderRadius: 12, borderLeft: '4px solid #F59E0B', background: '#F8FAFC' }}&gt;&#10;                &lt;Text style={{ fontSize: 20, fontWeight: 'bold', color: '#B45309' }}&gt;红黑树 · TreeNode&lt;/Text&gt;&#10;                &lt;Text style={{ fontSize: 18, color: '#475569', lineHeight: 1.5, marginTop: 8 }}&gt;&#10;                    链表过长时把该桶升级为红黑树，节点变成 TreeNode，桶内查找从 O(n) 降到 O(logn)。&#10;                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0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基础定义：数组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链表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红黑树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01</a:t>
            </a:r>
            <a:endParaRPr/>
          </a:p>
        </p:txBody>
      </p:sp>
      <p:pic>
        <p:nvPicPr>
          <p:cNvPr id="4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257300"/>
            <a:ext cx="6096000" cy="4476750"/>
          </a:xfrm>
          <a:prstGeom prst="rect">
            <a:avLst/>
          </a:prstGeom>
          <a:ln/>
        </p:spPr>
      </p:pic>
      <p:sp>
        <p:nvSpPr>
          <p:cNvPr id="407" name=""/>
          <p:cNvSpPr/>
          <p:nvPr/>
        </p:nvSpPr>
        <p:spPr>
          <a:xfrm rot="0" flipH="0" flipV="0">
            <a:off x="1752600" y="5848350"/>
            <a:ext cx="1152525" cy="323850"/>
          </a:xfrm>
          <a:prstGeom prst="roundRect">
            <a:avLst>
              <a:gd name="adj" fmla="val 2938235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905000" y="5915025"/>
            <a:ext cx="84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563EB"/>
                </a:solidFill>
                <a:latin typeface="思源黑体"/>
                <a:ea typeface="思源黑体"/>
              </a:rPr>
              <a:t xml:space="preserve">bucket </a:t>
            </a:r>
            <a:r>
              <a:rPr lang="zh-CN" sz="1200">
                <a:solidFill>
                  <a:srgbClr val="2563EB"/>
                </a:solidFill>
                <a:latin typeface="思源黑体"/>
                <a:ea typeface="思源黑体"/>
              </a:rPr>
              <a:t>数组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3019425" y="5848350"/>
            <a:ext cx="1066800" cy="323850"/>
          </a:xfrm>
          <a:prstGeom prst="roundRect">
            <a:avLst>
              <a:gd name="adj" fmla="val 2938235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171825" y="591502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891B2"/>
                </a:solidFill>
                <a:latin typeface="思源黑体"/>
                <a:ea typeface="思源黑体"/>
              </a:rPr>
              <a:t xml:space="preserve">Node </a:t>
            </a:r>
            <a:r>
              <a:rPr lang="zh-CN" sz="1200">
                <a:solidFill>
                  <a:srgbClr val="0891B2"/>
                </a:solidFill>
                <a:latin typeface="思源黑体"/>
                <a:ea typeface="思源黑体"/>
              </a:rPr>
              <a:t>链表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4200525" y="5848350"/>
            <a:ext cx="1514475" cy="323850"/>
          </a:xfrm>
          <a:prstGeom prst="roundRect">
            <a:avLst>
              <a:gd name="adj" fmla="val 2938235"/>
            </a:avLst>
          </a:prstGeom>
          <a:solidFill>
            <a:srgbClr val="F59E0B">
              <a:alpha val="14000"/>
            </a:srgbClr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352925" y="5915025"/>
            <a:ext cx="1209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45309"/>
                </a:solidFill>
                <a:latin typeface="思源黑体"/>
                <a:ea typeface="思源黑体"/>
              </a:rPr>
              <a:t xml:space="preserve">TreeNode </a:t>
            </a:r>
            <a:r>
              <a:rPr lang="zh-CN" sz="1200">
                <a:solidFill>
                  <a:srgbClr val="B45309"/>
                </a:solidFill>
                <a:latin typeface="思源黑体"/>
                <a:ea typeface="思源黑体"/>
              </a:rPr>
              <a:t>红黑树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7124700" y="1143000"/>
            <a:ext cx="4381500" cy="923925"/>
          </a:xfrm>
          <a:prstGeom prst="roundRect">
            <a:avLst>
              <a:gd name="adj" fmla="val 12371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315200" y="1295400"/>
            <a:ext cx="4000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HashMap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实现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 Map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接口：键唯一、值可重复、线程不安全；底层是哈希表，平均查找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 O(1)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162800" y="2286000"/>
            <a:ext cx="43815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7162800" y="2286000"/>
            <a:ext cx="4381500" cy="1190625"/>
          </a:xfrm>
          <a:custGeom>
            <a:pathLst>
              <a:path w="460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353300" y="2419350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数组</a:t>
            </a:r>
            <a:r>
              <a:rPr lang="en-US" sz="1500" b="1">
                <a:solidFill>
                  <a:srgbClr val="2563EB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哈希桶</a:t>
            </a:r>
            <a:r>
              <a:rPr lang="en-US" sz="1500" b="1">
                <a:solidFill>
                  <a:srgbClr val="2563EB"/>
                </a:solidFill>
                <a:latin typeface="思源黑体"/>
                <a:ea typeface="思源黑体"/>
              </a:rPr>
              <a:t xml:space="preserve"> bucket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353300" y="2724150"/>
            <a:ext cx="3962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每个桶只存桶头节点，桶的数量就是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table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数组长度；容量始终被强制为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的幂。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7162800" y="3686175"/>
            <a:ext cx="43815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7162800" y="3686175"/>
            <a:ext cx="4381500" cy="1190625"/>
          </a:xfrm>
          <a:custGeom>
            <a:pathLst>
              <a:path w="460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353300" y="38195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91B2"/>
                </a:solidFill>
                <a:latin typeface="思源黑体"/>
                <a:ea typeface="思源黑体"/>
              </a:rPr>
              <a:t>链表</a:t>
            </a:r>
            <a:r>
              <a:rPr lang="en-US" sz="1500" b="1">
                <a:solidFill>
                  <a:srgbClr val="0891B2"/>
                </a:solidFill>
                <a:latin typeface="思源黑体"/>
                <a:ea typeface="思源黑体"/>
              </a:rPr>
              <a:t xml:space="preserve"> · Node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353300" y="4124325"/>
            <a:ext cx="3962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链表用拉链法解决哈希冲突；节点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Node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内含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hash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、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>key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、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>value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、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next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四个字段。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7162800" y="5095875"/>
            <a:ext cx="43815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7162800" y="5095875"/>
            <a:ext cx="4381500" cy="1190625"/>
          </a:xfrm>
          <a:custGeom>
            <a:pathLst>
              <a:path w="460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353300" y="5229225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45309"/>
                </a:solidFill>
                <a:latin typeface="思源黑体"/>
                <a:ea typeface="思源黑体"/>
              </a:rPr>
              <a:t>红黑树</a:t>
            </a:r>
            <a:r>
              <a:rPr lang="en-US" sz="1500" b="1">
                <a:solidFill>
                  <a:srgbClr val="B45309"/>
                </a:solidFill>
                <a:latin typeface="思源黑体"/>
                <a:ea typeface="思源黑体"/>
              </a:rPr>
              <a:t xml:space="preserve"> · TreeNode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353300" y="5534025"/>
            <a:ext cx="3962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链表过长时把该桶升级为红黑树，节点变成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TreeNode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，桶内查找从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O(n)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降到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O(logn)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pic>
        <p:nvPicPr>
          <p:cNvPr id="4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30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核心常量：6 个 final 字段锁死行为&lt;/Text&gt;&#10;        &lt;Text style={{ fontSize: 14, color: '#64748B', letterSpacing: 1 }}&gt;第 02 章 / 知识点 02&lt;/Text&gt;&#10;    &lt;/Box&gt;&#10;&#10;    &lt;Box style={{ height: 540, padding: '0 72px', flexDirection: 'row', gap: 28 }}&gt;&#10;        &lt;Box style={{ width: 704, height: 540, flexDirection: 'column', justifyContent: 'center', gap: 14 }}&gt;&#10;            &lt;CodeBlock&#10;                code={`static final int DEFAULT_INITIAL_CAPACITY = 1 &lt;&lt; 4;  //默认初始容量16&#10;static final int MAXIMUM_CAPACITY = 1 &lt;&lt; 30;          //最大容量&#10;static final float DEFAULT_LOAD_FACTOR = 0.75f;       //默认负载因子&#10;static final int TREEIFY_THRESHOLD = 8;               //链表树化阈值，链表长度&gt;=8&#10;static final int UNTREEIFY_THRESHOLD = 6;             //树退化成链表阈值，节点&lt;=6，这里指的是链表中的节点&#10;static final int MIN_TREEIFY_CAPACITY = 64;           //树化前提，桶的数量&gt;=64`}&#10;                language='java'&#10;                width={700}&#10;                fontSize={12}&#10;                theme='github-dark'&#10;            /&gt;&#10;            &lt;Box style={{ flexDirection: 'row', alignItems: 'center', gap: 10 }}&gt;&#10;                &lt;Box style={{ width: 6, height: 6, borderRadius: 3, background: '#F59E0B' }} /&gt;&#10;                &lt;Text style={{ fontSize: 16, color: '#64748B' }}&gt;&#10;                    源码取自笔记原文，仅修正常量名拼写笔误，数值与技术含义未作改动。&#10;                &lt;/Text&gt;&#10;            &lt;/Box&gt;&#10;        &lt;/Box&gt;&#10;&#10;        &lt;Box style={{ flex: 1, height: 540, flexDirection: 'column', justifyContent: 'space-between' }}&gt;&#10;            &lt;Box style={{ padding: '16px 20px', borderRadius: 12, background: 'rgba(37,99,235,0.07)' }}&gt;&#10;                &lt;Text style={{ fontSize: 18, color: '#0F172A', lineHeight: 1.5 }}&gt;&#10;                    6 个 final 字段把容量、阈值和树化边界全部钉死，put 与 resize 的行为都是它们的推论。&#10;                &lt;/Text&gt;&#10;            &lt;/Box&gt;&#10;&#10;            &lt;Box style={{ padding: '14px 20px', borderRadius: 12, borderLeft: '4px solid #2563EB', background: '#F8FAFC' }}&gt;&#10;                &lt;Text style={{ fontSize: 20, fontWeight: 'bold', color: '#2563EB' }}&gt;容量：默认 16，上限 2 的 30 次方&lt;/Text&gt;&#10;                &lt;Text style={{ fontSize: 18, color: '#475569', lineHeight: 1.5, marginTop: 8 }}&gt;&#10;                    默认容量 16、最大容量 2 的 30 次方；容量必须是 2 的幂，桶索引的位运算才成立。&#10;                &lt;/Text&gt;&#10;            &lt;/Box&gt;&#10;&#10;            &lt;Box style={{ padding: '14px 20px', borderRadius: 12, borderLeft: '4px solid #06B6D4', background: '#F8FAFC' }}&gt;&#10;                &lt;Text style={{ fontSize: 20, fontWeight: 'bold', color: '#0891B2' }}&gt;阈值：负载因子 0.75&lt;/Text&gt;&#10;                &lt;Text style={{ fontSize: 18, color: '#475569', lineHeight: 1.5, marginTop: 8 }}&gt;&#10;                    时间与空间的折中：太小浪费空间，太大冲突变多、查询变慢；扩容阈值 = 容量 × 0.75。&#10;                &lt;/Text&gt;&#10;            &lt;/Box&gt;&#10;&#10;            &lt;Box style={{ padding: '14px 20px', borderRadius: 12, borderLeft: '4px solid #F59E0B', background: '#F8FAFC' }}&gt;&#10;                &lt;Text style={{ fontSize: 20, fontWeight: 'bold', color: '#B45309' }}&gt;树化边界：8 / 6 / 64&lt;/Text&gt;&#10;                &lt;Text style={{ fontSize: 18, color: '#475569', lineHeight: 1.5, marginTop: 8 }}&gt;&#10;                    8 是树化阈值、6 是退化阈值、64 是树化前提；判定顺序下一节单独拆开讲。&#10;                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0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5200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核心常量：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6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个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 final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字段锁死行为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685800" y="44672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4400550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源码取自笔记原文，仅修正常量名拼写笔误，数值与技术含义未作改动。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7658100" y="1143000"/>
            <a:ext cx="3848100" cy="1238250"/>
          </a:xfrm>
          <a:prstGeom prst="roundRect">
            <a:avLst>
              <a:gd name="adj" fmla="val 9231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848600" y="1295400"/>
            <a:ext cx="34671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6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个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 final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字段把容量、阈值和树化边界全部钉死，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与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 xml:space="preserve"> resize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的行为都是它们的推论。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7696200" y="2495550"/>
            <a:ext cx="3848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7696200" y="2495550"/>
            <a:ext cx="3848100" cy="1190625"/>
          </a:xfrm>
          <a:custGeom>
            <a:pathLst>
              <a:path w="404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886700" y="2628900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容量：默认</a:t>
            </a:r>
            <a:r>
              <a:rPr lang="en-US" sz="1500" b="1">
                <a:solidFill>
                  <a:srgbClr val="2563EB"/>
                </a:solidFill>
                <a:latin typeface="思源黑体"/>
                <a:ea typeface="思源黑体"/>
              </a:rPr>
              <a:t xml:space="preserve"> 16</a:t>
            </a: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，上限</a:t>
            </a:r>
            <a:r>
              <a:rPr lang="en-US" sz="1500" b="1">
                <a:solidFill>
                  <a:srgbClr val="2563EB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的</a:t>
            </a:r>
            <a:r>
              <a:rPr lang="en-US" sz="1500" b="1">
                <a:solidFill>
                  <a:srgbClr val="2563EB"/>
                </a:solidFill>
                <a:latin typeface="思源黑体"/>
                <a:ea typeface="思源黑体"/>
              </a:rPr>
              <a:t xml:space="preserve"> 30 </a:t>
            </a: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次方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886700" y="2933700"/>
            <a:ext cx="3429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默认容量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16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、最大容量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30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次方；容量必须是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的幂，桶索引的位运算才成立。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7696200" y="3790950"/>
            <a:ext cx="3848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7696200" y="3790950"/>
            <a:ext cx="3848100" cy="1190625"/>
          </a:xfrm>
          <a:custGeom>
            <a:pathLst>
              <a:path w="404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886700" y="3924300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91B2"/>
                </a:solidFill>
                <a:latin typeface="思源黑体"/>
                <a:ea typeface="思源黑体"/>
              </a:rPr>
              <a:t>阈值：负载因子</a:t>
            </a:r>
            <a:r>
              <a:rPr lang="en-US" sz="1500" b="1">
                <a:solidFill>
                  <a:srgbClr val="0891B2"/>
                </a:solidFill>
                <a:latin typeface="思源黑体"/>
                <a:ea typeface="思源黑体"/>
              </a:rPr>
              <a:t xml:space="preserve"> 0.75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886700" y="4229100"/>
            <a:ext cx="3429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时间与空间的折中：太小浪费空间，太大冲突变多、查询变慢；扩容阈值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=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容量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× 0.75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7696200" y="5095875"/>
            <a:ext cx="38481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7696200" y="5095875"/>
            <a:ext cx="3848100" cy="1190625"/>
          </a:xfrm>
          <a:custGeom>
            <a:pathLst>
              <a:path w="404" h="1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7"/>
                </a:lnTo>
                <a:cubicBezTo>
                  <a:pt x="4" y="121"/>
                  <a:pt x="7" y="124"/>
                  <a:pt x="10" y="125"/>
                </a:cubicBezTo>
                <a:cubicBezTo>
                  <a:pt x="4" y="124"/>
                  <a:pt x="0" y="119"/>
                  <a:pt x="0" y="1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886700" y="52292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45309"/>
                </a:solidFill>
                <a:latin typeface="思源黑体"/>
                <a:ea typeface="思源黑体"/>
              </a:rPr>
              <a:t>树化边界：</a:t>
            </a:r>
            <a:r>
              <a:rPr lang="en-US" sz="1500" b="1">
                <a:solidFill>
                  <a:srgbClr val="B45309"/>
                </a:solidFill>
                <a:latin typeface="思源黑体"/>
                <a:ea typeface="思源黑体"/>
              </a:rPr>
              <a:t>8 / 6 / 64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886700" y="5534025"/>
            <a:ext cx="3429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8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是树化阈值、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6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是退化阈值、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64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是树化前提；判定顺序下一节单独拆开讲。</a:t>
            </a:r>
            <a:endParaRPr/>
          </a:p>
        </p:txBody>
      </p:sp>
      <p:pic>
        <p:nvPicPr>
          <p:cNvPr id="4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07 / 18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85800" y="2847975"/>
            <a:ext cx="6705600" cy="1419225"/>
          </a:xfrm>
          <a:prstGeom prst="roundRect">
            <a:avLst>
              <a:gd name="adj" fmla="val 5369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454" name=""/>
          <p:cNvSpPr txBox="1"/>
          <p:nvPr/>
        </p:nvSpPr>
        <p:spPr>
          <a:xfrm rot="0" flipH="0" flipV="0">
            <a:off x="838200" y="2981325"/>
            <a:ext cx="6400800" cy="1152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DEFAULT_INITIAL_CAPACITY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&lt;&lt;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4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//默认初始容量16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MAXIMUM_CAPACITY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&lt;&lt;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30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;  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//最大容量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float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DEFAULT_LOAD_FACTOR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0.75f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//默认负载因子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TREEIFY_THRESHOLD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8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;       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//链表树化阈值，链表长度&gt;=8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UNTREEIFY_THRESHOLD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6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;     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//树退化成链表阈值，节点&lt;=6，这里指的是链表中的节点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MIN_TREEIFY_CAPACITY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64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//树化前提，桶的数量&gt;=64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55" name="" descr="&lt;Slide style={{&#10;    width: 1280,&#10;    height: 720,&#10;    padding: 0,&#10;    position: 'relative',&#10;    overflow: 'hidden',&#10;    flexDirection: 'column',&#10;    background: 'linear-gradient(160deg, #0F172A 0%, #1E293B 100%)',&#10;    fontFamily: '思源黑体, Microsoft YaHei, sans-serif'&#10;}}&gt;&#10;    &lt;Box style={{&#10;        position: 'absolute',&#10;        top: -160,&#10;        left: 420,&#10;        width: 640,&#10;        height: 640,&#10;        borderRadius: '50%',&#10;        background: 'radial-gradient(circle, rgba(245,158,11,0.20) 0%, rgba(245,158,11,0) 70%)'&#10;    }} /&gt;&#10;&#10;    &lt;Box style={{&#10;        height: 120,&#10;        padding: '20px 72px 0 72px',&#10;        flexDirection: 'row',&#10;        alignItems: 'center',&#10;        justifyContent: 'space-between',&#10;        position: 'relative',&#10;        zIndex: 1&#10;    }}&gt;&#10;        &lt;Text style={{ fontSize: 34, fontWeight: 'bold', color: '#FFFFFF', letterSpacing: 0.5 }}&gt;三个关键数字：16 / 0.75 / 8&lt;/Text&gt;&#10;        &lt;Text style={{ fontSize: 14, color: '#94A3B8', letterSpacing: 1 }}&gt;第 02 章 / 知识点 03&lt;/Text&gt;&#10;    &lt;/Box&gt;&#10;&#10;    &lt;Box style={{&#10;        height: 540,&#10;        padding: '0 72px',&#10;        flexDirection: 'column',&#10;        justifyContent: 'space-between',&#10;        position: 'relative',&#10;        zIndex: 1&#10;    }}&gt;&#10;        &lt;Box style={{ flexDirection: 'row', alignItems: 'flex-end', gap: 32, paddingTop: 24 }}&gt;&#10;            &lt;Box style={{ flex: 1, flexDirection: 'column', gap: 14 }}&gt;&#10;                &lt;Text style={{&#10;                    fontSize: 112,&#10;                    fontWeight: 'bold',&#10;                    lineHeight: 1,&#10;                    letterSpacing: -4,&#10;                    color: '#06B6D4',&#10;                    fontFamily: 'JetBrains Mono, Consolas, monospace'&#10;                }}&gt;16&lt;/Text&gt;&#10;                &lt;Box style={{ width: 56, height: 4, borderRadius: 2, background: '#06B6D4' }} /&gt;&#10;                &lt;Text style={{ fontSize: 22, fontWeight: 'bold', color: '#FFFFFF' }}&gt;默认初始容量&lt;/Text&gt;&#10;                &lt;Text style={{ fontSize: 17, color: '#94A3B8', lineHeight: 1.5 }}&gt;&#10;                    2 的幂起点：只有容量是 2 的幂，桶索引的位运算才等价取模。&#10;                &lt;/Text&gt;&#10;            &lt;/Box&gt;&#10;&#10;            &lt;Box style={{&#10;                flex: 1.35,&#10;                padding: '24px 26px',&#10;                borderRadius: 16,&#10;                background: 'rgba(245,158,11,0.12)',&#10;                border: '1px solid rgba(245,158,11,0.45)',&#10;                flexDirection: 'column',&#10;                gap: 14&#10;            }}&gt;&#10;                &lt;Text style={{&#10;                    fontSize: 144,&#10;                    fontWeight: 'bold',&#10;                    lineHeight: 1,&#10;                    letterSpacing: -6,&#10;                    color: '#F59E0B',&#10;                    fontFamily: 'JetBrains Mono, Consolas, monospace'&#10;                }}&gt;0.75&lt;/Text&gt;&#10;                &lt;Box style={{ width: 72, height: 5, borderRadius: 2, background: '#F59E0B' }} /&gt;&#10;                &lt;Text style={{ fontSize: 24, fontWeight: 'bold', color: '#FFFFFF' }}&gt;默认负载因子&lt;/Text&gt;&#10;                &lt;Text style={{ fontSize: 18, color: '#CBD5E1', lineHeight: 1.5 }}&gt;&#10;                    时间与空间的折中：太小浪费空间，太大冲突变多、查询变慢。扩容阈值 = 容量 × 0.75。&#10;                &lt;/Text&gt;&#10;            &lt;/Box&gt;&#10;&#10;            &lt;Box style={{ flex: 1, flexDirection: 'column', gap: 14 }}&gt;&#10;                &lt;Text style={{&#10;                    fontSize: 112,&#10;                    fontWeight: 'bold',&#10;                    lineHeight: 1,&#10;                    letterSpacing: -4,&#10;                    color: '#06B6D4',&#10;                    fontFamily: 'JetBrains Mono, Consolas, monospace'&#10;                }}&gt;8&lt;/Text&gt;&#10;                &lt;Box style={{ width: 56, height: 4, borderRadius: 2, background: '#06B6D4' }} /&gt;&#10;                &lt;Text style={{ fontSize: 22, fontWeight: 'bold', color: '#FFFFFF' }}&gt;链表树化阈值&lt;/Text&gt;&#10;                &lt;Text style={{ fontSize: 17, color: '#94A3B8', lineHeight: 1.5 }}&gt;&#10;                    泊松分布依据：hash 均匀时，单个桶的链表长度达到 8 的概率极小。&#10;                &lt;/Text&gt;&#10;            &lt;/Box&gt;&#10;        &lt;/Box&gt;&#10;&#10;        &lt;Box style={{&#10;            flexDirection: 'row',&#10;            alignItems: 'center',&#10;            justifyContent: 'space-between',&#10;            padding: '18px 24px',&#10;            borderRadius: 12,&#10;            background: 'rgba(255,255,255,0.05)'&#10;        }}&gt;&#10;            &lt;Text style={{ fontSize: 17, color: '#94A3B8' }}&gt;&#10;                同族数字一起记：最大容量 2 的 30 次方 · 树化前提 64 · 退化阈值 6&#10;            &lt;/Text&gt;&#10;            &lt;Text style={{&#10;                fontSize: 17,&#10;                color: '#F59E0B',&#10;                fontFamily: 'JetBrains Mono, Consolas, monospace'&#10;            }}&gt;6 与 8 之间留缓冲，避免链表与树频繁互转&lt;/Text&gt;&#10;        &lt;/Box&gt;&#10;    &lt;/Box&gt;&#10;&#10;    &lt;Box style={{&#10;        height: 60,&#10;        padding: '0 72px 20px 72px',&#10;        flexDirection: 'row',&#10;        alignItems: 'flex-end',&#10;        justifyContent: 'space-between',&#10;        position: 'relative',&#10;        zIndex: 1&#10;    }}&gt;&#10;        &lt;Box style={{ flexDirection: 'row', alignItems: 'center', gap: 12 }}&gt;&#10;            &lt;svg width={32} height={32} viewBox='0 0 32 32'&gt;&#10;                &lt;rect x='0.5' y='0.5' width='31' height='31' rx='7' fill='rgba(255,255,255,0.08)' stroke='#06B6D4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94A3B8', letterSpacing: 0.5 }}&gt;HashMap JDK1.8 · 底层结构与 put 全流程&lt;/Text&gt;&#10;        &lt;/Box&gt;&#10;        &lt;Text style={{ fontSize: 14, color: '#94A3B8', fontFamily: 'JetBrains Mono, Consolas, monospace' }}&gt;08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4000500" y="-1524000"/>
            <a:ext cx="6096000" cy="6096000"/>
          </a:xfrm>
          <a:custGeom>
            <a:pathLst>
              <a:path w="640" h="640">
                <a:moveTo>
                  <a:pt x="598" y="161"/>
                </a:moveTo>
                <a:lnTo>
                  <a:pt x="601" y="168"/>
                </a:lnTo>
                <a:lnTo>
                  <a:pt x="605" y="174"/>
                </a:lnTo>
                <a:lnTo>
                  <a:pt x="608" y="181"/>
                </a:lnTo>
                <a:lnTo>
                  <a:pt x="612" y="188"/>
                </a:lnTo>
                <a:lnTo>
                  <a:pt x="615" y="195"/>
                </a:lnTo>
                <a:lnTo>
                  <a:pt x="618" y="203"/>
                </a:lnTo>
                <a:lnTo>
                  <a:pt x="621" y="210"/>
                </a:lnTo>
                <a:lnTo>
                  <a:pt x="623" y="217"/>
                </a:lnTo>
                <a:lnTo>
                  <a:pt x="626" y="225"/>
                </a:lnTo>
                <a:lnTo>
                  <a:pt x="628" y="232"/>
                </a:lnTo>
                <a:lnTo>
                  <a:pt x="630" y="240"/>
                </a:lnTo>
                <a:lnTo>
                  <a:pt x="632" y="248"/>
                </a:lnTo>
                <a:lnTo>
                  <a:pt x="633" y="256"/>
                </a:lnTo>
                <a:lnTo>
                  <a:pt x="635" y="263"/>
                </a:lnTo>
                <a:lnTo>
                  <a:pt x="636" y="271"/>
                </a:lnTo>
                <a:lnTo>
                  <a:pt x="637" y="279"/>
                </a:lnTo>
                <a:lnTo>
                  <a:pt x="638" y="287"/>
                </a:lnTo>
                <a:lnTo>
                  <a:pt x="639" y="295"/>
                </a:lnTo>
                <a:lnTo>
                  <a:pt x="640" y="304"/>
                </a:lnTo>
                <a:lnTo>
                  <a:pt x="640" y="312"/>
                </a:lnTo>
                <a:lnTo>
                  <a:pt x="640" y="320"/>
                </a:lnTo>
                <a:lnTo>
                  <a:pt x="640" y="328"/>
                </a:lnTo>
                <a:lnTo>
                  <a:pt x="640" y="336"/>
                </a:lnTo>
                <a:lnTo>
                  <a:pt x="639" y="345"/>
                </a:lnTo>
                <a:lnTo>
                  <a:pt x="638" y="353"/>
                </a:lnTo>
                <a:lnTo>
                  <a:pt x="637" y="361"/>
                </a:lnTo>
                <a:lnTo>
                  <a:pt x="636" y="369"/>
                </a:lnTo>
                <a:lnTo>
                  <a:pt x="635" y="377"/>
                </a:lnTo>
                <a:lnTo>
                  <a:pt x="633" y="384"/>
                </a:lnTo>
                <a:lnTo>
                  <a:pt x="632" y="392"/>
                </a:lnTo>
                <a:lnTo>
                  <a:pt x="630" y="400"/>
                </a:lnTo>
                <a:lnTo>
                  <a:pt x="628" y="408"/>
                </a:lnTo>
                <a:lnTo>
                  <a:pt x="626" y="415"/>
                </a:lnTo>
                <a:lnTo>
                  <a:pt x="623" y="423"/>
                </a:lnTo>
                <a:lnTo>
                  <a:pt x="621" y="430"/>
                </a:lnTo>
                <a:lnTo>
                  <a:pt x="618" y="437"/>
                </a:lnTo>
                <a:lnTo>
                  <a:pt x="615" y="445"/>
                </a:lnTo>
                <a:lnTo>
                  <a:pt x="612" y="452"/>
                </a:lnTo>
                <a:lnTo>
                  <a:pt x="608" y="459"/>
                </a:lnTo>
                <a:lnTo>
                  <a:pt x="605" y="466"/>
                </a:lnTo>
                <a:lnTo>
                  <a:pt x="601" y="472"/>
                </a:lnTo>
                <a:lnTo>
                  <a:pt x="598" y="479"/>
                </a:lnTo>
                <a:lnTo>
                  <a:pt x="594" y="486"/>
                </a:lnTo>
                <a:lnTo>
                  <a:pt x="590" y="492"/>
                </a:lnTo>
                <a:lnTo>
                  <a:pt x="585" y="499"/>
                </a:lnTo>
                <a:lnTo>
                  <a:pt x="581" y="505"/>
                </a:lnTo>
                <a:lnTo>
                  <a:pt x="576" y="511"/>
                </a:lnTo>
                <a:lnTo>
                  <a:pt x="572" y="518"/>
                </a:lnTo>
                <a:lnTo>
                  <a:pt x="567" y="524"/>
                </a:lnTo>
                <a:lnTo>
                  <a:pt x="562" y="529"/>
                </a:lnTo>
                <a:lnTo>
                  <a:pt x="557" y="535"/>
                </a:lnTo>
                <a:lnTo>
                  <a:pt x="552" y="541"/>
                </a:lnTo>
                <a:lnTo>
                  <a:pt x="546" y="546"/>
                </a:lnTo>
                <a:lnTo>
                  <a:pt x="541" y="552"/>
                </a:lnTo>
                <a:lnTo>
                  <a:pt x="535" y="557"/>
                </a:lnTo>
                <a:lnTo>
                  <a:pt x="529" y="562"/>
                </a:lnTo>
                <a:lnTo>
                  <a:pt x="524" y="567"/>
                </a:lnTo>
                <a:lnTo>
                  <a:pt x="518" y="572"/>
                </a:lnTo>
                <a:lnTo>
                  <a:pt x="511" y="576"/>
                </a:lnTo>
                <a:lnTo>
                  <a:pt x="505" y="581"/>
                </a:lnTo>
                <a:lnTo>
                  <a:pt x="499" y="585"/>
                </a:lnTo>
                <a:lnTo>
                  <a:pt x="492" y="590"/>
                </a:lnTo>
                <a:lnTo>
                  <a:pt x="486" y="594"/>
                </a:lnTo>
                <a:lnTo>
                  <a:pt x="479" y="598"/>
                </a:lnTo>
                <a:lnTo>
                  <a:pt x="472" y="601"/>
                </a:lnTo>
                <a:lnTo>
                  <a:pt x="466" y="605"/>
                </a:lnTo>
                <a:lnTo>
                  <a:pt x="459" y="608"/>
                </a:lnTo>
                <a:lnTo>
                  <a:pt x="452" y="612"/>
                </a:lnTo>
                <a:lnTo>
                  <a:pt x="445" y="615"/>
                </a:ln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3" y="160"/>
                </a:lnTo>
                <a:lnTo>
                  <a:pt x="597" y="160"/>
                </a:lnTo>
                <a:close/>
              </a:path>
            </a:pathLst>
          </a:custGeom>
          <a:gradFill>
            <a:gsLst>
              <a:gs pos="0">
                <a:srgbClr val="F59E0B">
                  <a:alpha val="20000"/>
                </a:srgbClr>
              </a:gs>
              <a:gs pos="7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352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FFFFFF"/>
                </a:solidFill>
                <a:latin typeface="思源黑体"/>
                <a:ea typeface="思源黑体"/>
              </a:rPr>
              <a:t>三个关键数字：</a:t>
            </a:r>
            <a:r>
              <a:rPr lang="en-US" sz="2550" b="1" spc="38">
                <a:solidFill>
                  <a:srgbClr val="FFFFFF"/>
                </a:solidFill>
                <a:latin typeface="思源黑体"/>
                <a:ea typeface="思源黑体"/>
              </a:rPr>
              <a:t>16 / 0.75 / 8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94A3B8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94A3B8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94A3B8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94A3B8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94A3B8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94A3B8"/>
                </a:solidFill>
                <a:latin typeface="思源黑体"/>
                <a:ea typeface="思源黑体"/>
              </a:rPr>
              <a:t xml:space="preserve"> 03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85800" y="2247900"/>
            <a:ext cx="304800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 spc="-300">
                <a:solidFill>
                  <a:srgbClr val="06B6D4"/>
                </a:solidFill>
                <a:latin typeface="JetBrains Mono"/>
                <a:ea typeface="JetBrains Mono"/>
              </a:rPr>
              <a:t>16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85800" y="36671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85800" y="383857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默认初始容量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85800" y="4229100"/>
            <a:ext cx="3048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2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的幂起点：只有容量是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的幂，桶索引的位运算才等价取模。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4038600" y="1371600"/>
            <a:ext cx="4114800" cy="3448050"/>
          </a:xfrm>
          <a:prstGeom prst="roundRect">
            <a:avLst>
              <a:gd name="adj" fmla="val 442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286250" y="1600200"/>
            <a:ext cx="3619500" cy="1647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00" b="1" spc="-450">
                <a:solidFill>
                  <a:srgbClr val="F59E0B"/>
                </a:solidFill>
                <a:latin typeface="JetBrains Mono"/>
                <a:ea typeface="JetBrains Mono"/>
              </a:rPr>
              <a:t>0.75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286250" y="3381375"/>
            <a:ext cx="685800" cy="47625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286250" y="3562350"/>
            <a:ext cx="3619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思源黑体"/>
                <a:ea typeface="思源黑体"/>
              </a:rPr>
              <a:t>默认负载因子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4286250" y="3971925"/>
            <a:ext cx="3619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CBD5E1"/>
                </a:solidFill>
                <a:latin typeface="思源黑体"/>
                <a:ea typeface="思源黑体"/>
              </a:rPr>
              <a:t>时间与空间的折中：太小浪费空间，太大冲突变多、查询变慢。扩容阈值</a:t>
            </a:r>
            <a:r>
              <a:rPr lang="en-US" sz="1350">
                <a:solidFill>
                  <a:srgbClr val="CBD5E1"/>
                </a:solidFill>
                <a:latin typeface="思源黑体"/>
                <a:ea typeface="思源黑体"/>
              </a:rPr>
              <a:t xml:space="preserve"> = </a:t>
            </a:r>
            <a:r>
              <a:rPr lang="zh-CN" sz="1350">
                <a:solidFill>
                  <a:srgbClr val="CBD5E1"/>
                </a:solidFill>
                <a:latin typeface="思源黑体"/>
                <a:ea typeface="思源黑体"/>
              </a:rPr>
              <a:t>容量</a:t>
            </a:r>
            <a:r>
              <a:rPr lang="en-US" sz="1350">
                <a:solidFill>
                  <a:srgbClr val="CBD5E1"/>
                </a:solidFill>
                <a:latin typeface="思源黑体"/>
                <a:ea typeface="思源黑体"/>
              </a:rPr>
              <a:t xml:space="preserve"> × 0.75</a:t>
            </a:r>
            <a:r>
              <a:rPr lang="zh-CN" sz="1350">
                <a:solidFill>
                  <a:srgbClr val="CBD5E1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458200" y="2247900"/>
            <a:ext cx="304800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 spc="-300">
                <a:solidFill>
                  <a:srgbClr val="06B6D4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8458200" y="36671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458200" y="383857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链表树化阈值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458200" y="4229100"/>
            <a:ext cx="3048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泊松分布依据：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均匀时，单个桶的链表长度达到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8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的概率极小。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85800" y="5743575"/>
            <a:ext cx="10820400" cy="542925"/>
          </a:xfrm>
          <a:prstGeom prst="roundRect">
            <a:avLst>
              <a:gd name="adj" fmla="val 21053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14400" y="5915025"/>
            <a:ext cx="485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同族数字一起记：最大容量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的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30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次方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树化前提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64 · </a:t>
            </a:r>
            <a:r>
              <a:rPr lang="zh-CN" sz="1275">
                <a:solidFill>
                  <a:srgbClr val="94A3B8"/>
                </a:solidFill>
                <a:latin typeface="思源黑体"/>
                <a:ea typeface="思源黑体"/>
              </a:rPr>
              <a:t>退化阈值</a:t>
            </a:r>
            <a:r>
              <a:rPr lang="en-US" sz="1275">
                <a:solidFill>
                  <a:srgbClr val="94A3B8"/>
                </a:solidFill>
                <a:latin typeface="思源黑体"/>
                <a:ea typeface="思源黑体"/>
              </a:rPr>
              <a:t xml:space="preserve"> 6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077200" y="591502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59E0B"/>
                </a:solidFill>
                <a:latin typeface="JetBrains Mono"/>
                <a:ea typeface="JetBrains Mono"/>
              </a:rPr>
              <a:t xml:space="preserve">6 </a:t>
            </a:r>
            <a:r>
              <a:rPr lang="zh-CN" sz="1275">
                <a:solidFill>
                  <a:srgbClr val="F59E0B"/>
                </a:solidFill>
                <a:latin typeface="JetBrains Mono"/>
                <a:ea typeface="JetBrains Mono"/>
              </a:rPr>
              <a:t>与</a:t>
            </a:r>
            <a:r>
              <a:rPr lang="en-US" sz="1275">
                <a:solidFill>
                  <a:srgbClr val="F59E0B"/>
                </a:solidFill>
                <a:latin typeface="JetBrains Mono"/>
                <a:ea typeface="JetBrains Mono"/>
              </a:rPr>
              <a:t xml:space="preserve"> 8 </a:t>
            </a:r>
            <a:r>
              <a:rPr lang="zh-CN" sz="1275">
                <a:solidFill>
                  <a:srgbClr val="F59E0B"/>
                </a:solidFill>
                <a:latin typeface="JetBrains Mono"/>
                <a:ea typeface="JetBrains Mono"/>
              </a:rPr>
              <a:t>之间留缓冲，避免链表与树频繁互转</a:t>
            </a:r>
            <a:endParaRPr/>
          </a:p>
        </p:txBody>
      </p:sp>
      <p:pic>
        <p:nvPicPr>
          <p:cNvPr id="4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94A3B8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94A3B8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94A3B8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94A3B8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9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为什么是 8 和 6：树化判定与缓冲&lt;/Text&gt;&#10;        &lt;Text style={{ fontSize: 14, color: '#64748B', letterSpacing: 1 }}&gt;第 02 章 / 专题 · 树化判定&lt;/Text&gt;&#10;    &lt;/Box&gt;&#10;&#10;    &lt;Box style={{ height: 540, padding: '0 72px', flexDirection: 'row', gap: 28 }}&gt;&#10;        &lt;Box style={{&#10;            width: 356,&#10;            height: 540,&#10;            padding: '32px 26px',&#10;            borderRadius: 16,&#10;            background: 'linear-gradient(135deg, #2563EB 0%, #06B6D4 100%)',&#10;            justifyContent: 'space-between'&#10;        }}&gt;&#10;            &lt;Box style={{ flexDirection: 'column', gap: 14 }}&gt;&#10;                &lt;Text style={{&#10;                    fontSize: 14,&#10;                    letterSpacing: 3,&#10;                    color: 'rgba(255,255,255,0.75)',&#10;                    fontFamily: 'JetBrains Mono, Consolas, monospace'&#10;                }}&gt;DECISION ORDER&lt;/Text&gt;&#10;                &lt;Text style={{ fontSize: 30, fontWeight: 'bold', color: '#FFFFFF', lineHeight: 1.25 }}&gt;判定顺序&lt;/Text&gt;&#10;                &lt;Box style={{ width: 56, height: 4, borderRadius: 2, background: 'rgba(255,255,255,0.85)' }} /&gt;&#10;&#10;                &lt;Box style={{ flexDirection: 'row', gap: 10, marginTop: 10 }}&gt;&#10;                    &lt;Text style={{ fontSize: 18, color: 'rgba(255,255,255,0.95)', fontWeight: 'bold' }}&gt;①&lt;/Text&gt;&#10;                    &lt;Text style={{ fontSize: 17, color: 'rgba(255,255,255,0.95)', lineHeight: 1.5 }}&gt;先看桶内节点数够不够 8&lt;/Text&gt;&#10;                &lt;/Box&gt;&#10;                &lt;Box style={{ flexDirection: 'row', gap: 10 }}&gt;&#10;                    &lt;Text style={{ fontSize: 18, color: 'rgba(255,255,255,0.95)', fontWeight: 'bold' }}&gt;②&lt;/Text&gt;&#10;                    &lt;Text style={{ fontSize: 17, color: 'rgba(255,255,255,0.95)', lineHeight: 1.5 }}&gt;再看桶的数量够不够 64&lt;/Text&gt;&#10;                &lt;/Box&gt;&#10;                &lt;Box style={{ flexDirection: 'row', gap: 10 }}&gt;&#10;                    &lt;Text style={{ fontSize: 18, color: 'rgba(255,255,255,0.95)', fontWeight: 'bold' }}&gt;③&lt;/Text&gt;&#10;                    &lt;Text style={{ fontSize: 17, color: 'rgba(255,255,255,0.95)', lineHeight: 1.5 }}&gt;两问都过才树化，任一不过走扩容&lt;/Text&gt;&#10;                &lt;/Box&gt;&#10;                &lt;Box style={{ flexDirection: 'row', gap: 10 }}&gt;&#10;                    &lt;Text style={{ fontSize: 18, color: 'rgba(255,255,255,0.95)', fontWeight: 'bold' }}&gt;④&lt;/Text&gt;&#10;                    &lt;Text style={{ fontSize: 17, color: 'rgba(255,255,255,0.95)', lineHeight: 1.5 }}&gt;节点掉到 6 及以下时，树退化成链表&lt;/Text&gt;&#10;                &lt;/Box&gt;&#10;            &lt;/Box&gt;&#10;&#10;            &lt;Box style={{ flexDirection: 'column', gap: 8 }}&gt;&#10;                &lt;Text style={{ fontSize: 17, color: 'rgba(255,255,255,0.92)', lineHeight: 1.5 }}&gt;&#10;                    一句话记：先量桶内，再量全局。&#10;                &lt;/Text&gt;&#10;                &lt;Text style={{&#10;                    fontSize: 13,&#10;                    color: 'rgba(255,255,255,0.62)',&#10;                    fontFamily: 'JetBrains Mono, Consolas, monospace'&#10;                }}&gt;TREEIFY_THRESHOLD / MIN_TREEIFY_CAPACITY / UNTREEIFY_THRESHOLD&lt;/Text&gt;&#10;            &lt;/Box&gt;&#10;        &lt;/Box&gt;&#10;&#10;        &lt;Box style={{ flex: 1, height: 540, flexDirection: 'column', justifyContent: 'space-between' }}&gt;&#10;            &lt;Box style={{ flexDirection: 'column', gap: 12 }}&gt;&#10;                &lt;Text style={{ fontSize: 17, color: '#64748B' }}&gt;&#10;                    判定不是一步到位：先看当前桶，再看整张表。&#10;                &lt;/Text&gt;&#10;&#10;                &lt;Box style={{ flexDirection: 'row', gap: 10 }}&gt;&#10;                    &lt;svg width={20} height={274} viewBox='0 0 20 274'&gt;&#10;                        &lt;line x1='10' y1='40' x2='10' y2='242' stroke='#2563EB' strokeWidth='3' opacity='0.35' /&gt;&#10;                        &lt;polygon points='10,146 4,132 16,132' fill='#2563EB' opacity='0.55' /&gt;&#10;                        &lt;polygon points='10,258 4,244 16,244' fill='#2563EB' opacity='0.55' /&gt;&#10;                    &lt;/svg&gt;&#10;&#10;                    &lt;Box style={{ flex: 1, flexDirection: 'column', gap: 14 }}&gt;&#10;                        &lt;Box style={{ height: 82, flexDirection: 'row', alignItems: 'center', gap: 12 }}&gt;&#10;                            &lt;Box style={{&#10;                                flex: 1,&#10;                                height: 82,&#10;                                padding: '8px 16px',&#10;                                borderRadius: 10,&#10;                                borderLeft: '4px solid #2563EB',&#10;                                background: '#F8FAFC',&#10;                                flexDirection: 'column',&#10;                                justifyContent: 'center',&#10;                                gap: 4&#10;                            }}&gt;&#10;                                &lt;Text style={{ fontSize: 20, fontWeight: 'bold', color: '#0F172A' }}&gt;桶内节点数 ≥ 8 ？&lt;/Text&gt;&#10;                                &lt;Text style={{ fontSize: 16, color: '#64748B' }}&gt;只看当前这个桶里的节点数量&lt;/Text&gt;&#10;                            &lt;/Box&gt;&#10;                            &lt;svg width={54} height={24} viewBox='0 0 54 24'&gt;&#10;                                &lt;line x1='0' y1='12' x2='40' y2='12' stroke='#F59E0B' strokeWidth='2.5' /&gt;&#10;                                &lt;polygon points='48,12 36,6 36,18' fill='#F59E0B' /&gt;&#10;                            &lt;/svg&gt;&#10;                            &lt;Box style={{&#10;                                width: 216,&#10;                                height: 82,&#10;                                padding: '8px 16px',&#10;                                borderRadius: 10,&#10;                                border: '1px dashed #F59E0B',&#10;                                background: 'rgba(245,158,11,0.09)',&#10;                                flexDirection: 'column',&#10;                                justifyContent: 'center',&#10;                                gap: 4&#10;                            }}&gt;&#10;                                &lt;Text style={{ fontSize: 19, fontWeight: 'bold', color: '#B45309' }}&gt;否 → 判断扩容&lt;/Text&gt;&#10;                                &lt;Text style={{ fontSize: 16, color: '#92400E' }}&gt;不树化，直接看要不要扩容&lt;/Text&gt;&#10;                            &lt;/Box&gt;&#10;                        &lt;/Box&gt;&#10;&#10;                        &lt;Box style={{ height: 82, flexDirection: 'row', alignItems: 'center', gap: 12 }}&gt;&#10;                            &lt;Box style={{&#10;                                flex: 1,&#10;                                height: 82,&#10;                                padding: '8px 16px',&#10;                                borderRadius: 10,&#10;                                borderLeft: '4px solid #06B6D4',&#10;                                background: '#F8FAFC',&#10;                                flexDirection: 'column',&#10;                                justifyContent: 'center',&#10;                                gap: 4&#10;                            }}&gt;&#10;                                &lt;Text style={{ fontSize: 20, fontWeight: 'bold', color: '#0F172A' }}&gt;桶数量 ≥ 64 ？&lt;/Text&gt;&#10;                                &lt;Text style={{ fontSize: 16, color: '#64748B' }}&gt;即 table 数组长度，也就是容量&lt;/Text&gt;&#10;                            &lt;/Box&gt;&#10;                            &lt;svg width={54} height={24} viewBox='0 0 54 24'&gt;&#10;                                &lt;line x1='0' y1='12' x2='40' y2='12' stroke='#F59E0B' strokeWidth='2.5' /&gt;&#10;                                &lt;polygon points='48,12 36,6 36,18' fill='#F59E0B' /&gt;&#10;                            &lt;/svg&gt;&#10;                            &lt;Box style={{&#10;                                width: 216,&#10;                                height: 82,&#10;                                padding: '8px 16px',&#10;                                borderRadius: 10,&#10;                                border: '1px dashed #F59E0B',&#10;                                background: 'rgba(245,158,11,0.09)',&#10;                                flexDirection: 'column',&#10;                                justifyContent: 'center',&#10;                                gap: 4&#10;                            }}&gt;&#10;                                &lt;Text style={{ fontSize: 19, fontWeight: 'bold', color: '#B45309' }}&gt;否 → 扩容&lt;/Text&gt;&#10;                                &lt;Text style={{ fontSize: 16, color: '#92400E' }}&gt;先扩容，暂不树化&lt;/Text&gt;&#10;                            &lt;/Box&gt;&#10;                        &lt;/Box&gt;&#10;&#10;                        &lt;Box style={{ height: 82, flexDirection: 'row', alignItems: 'center', gap: 12 }}&gt;&#10;                            &lt;Box style={{&#10;                                flex: 1,&#10;                                height: 82,&#10;                                padding: '8px 16px',&#10;                                borderRadius: 10,&#10;                                borderLeft: '4px solid #F59E0B',&#10;                                background: '#F8FAFC',&#10;                                flexDirection: 'column',&#10;                                justifyContent: 'center',&#10;                                gap: 4&#10;                            }}&gt;&#10;                                &lt;Text style={{ fontSize: 20, fontWeight: 'bold', color: '#0F172A' }}&gt;两问都过 → 该桶树化&lt;/Text&gt;&#10;                                &lt;Text style={{ fontSize: 16, color: '#64748B' }}&gt;链表节点升级为 TreeNode&lt;/Text&gt;&#10;                            &lt;/Box&gt;&#10;                            &lt;svg width={54} height={24} viewBox='0 0 54 24'&gt;&#10;                                &lt;line x1='0' y1='12' x2='40' y2='12' stroke='#F59E0B' strokeWidth='2.5' /&gt;&#10;                                &lt;polygon points='48,12 36,6 36,18' fill='#F59E0B' /&gt;&#10;                            &lt;/svg&gt;&#10;                            &lt;Box style={{&#10;                                width: 216,&#10;                                height: 82,&#10;                                padding: '8px 16px',&#10;                                borderRadius: 10,&#10;                                border: '1px solid #F59E0B',&#10;                                background: 'rgba(245,158,11,0.18)',&#10;                                flexDirection: 'column',&#10;                                justifyContent: 'center',&#10;                                gap: 4&#10;                            }}&gt;&#10;                                &lt;Text style={{ fontSize: 19, fontWeight: 'bold', color: '#B45309' }}&gt;结果：O(n) → O(logn)&lt;/Text&gt;&#10;                                &lt;Text style={{ fontSize: 16, color: '#92400E' }}&gt;桶内查找由线性变对数&lt;/Text&gt;&#10;                            &lt;/Box&gt;&#10;                        &lt;/Box&gt;&#10;                    &lt;/Box&gt;&#10;                &lt;/Box&gt;&#10;            &lt;/Box&gt;&#10;&#10;            &lt;Box style={{ flexDirection: 'row', gap: 16 }}&gt;&#10;                &lt;Box style={{ flex: 1, padding: '10px 18px', borderRadius: 12, background: 'rgba(6,182,212,0.09)' }}&gt;&#10;                    &lt;Text style={{ fontSize: 18, fontWeight: 'bold', color: '#0891B2' }}&gt;8 与 6 之间的缓冲&lt;/Text&gt;&#10;                    &lt;Text style={{ fontSize: 16, color: '#475569', lineHeight: 1.5, marginTop: 6 }}&gt;&#10;                        留出差值，防止扩容或删除时在链表、红黑树之间频繁来回切换。&#10;                    &lt;/Text&gt;&#10;                &lt;/Box&gt;&#10;                &lt;Box style={{ flex: 1, padding: '10px 18px', borderRadius: 12, background: 'rgba(37,99,235,0.07)' }}&gt;&#10;                    &lt;Text style={{ fontSize: 18, fontWeight: 'bold', color: '#2563EB' }}&gt;为什么不用 AVL 树&lt;/Text&gt;&#10;                    &lt;Text style={{ fontSize: 16, color: '#475569', lineHeight: 1.5, marginTop: 6 }}&gt;&#10;                        AVL 平衡更严格、旋转代价大；红黑树平衡更宽松，插入删除旋转更少。&#10;                    &lt;/Text&gt;&#10;                &lt;/Box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09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991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为什么是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 8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和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 6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：树化判定与缓冲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9782175" y="590550"/>
            <a:ext cx="1724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专题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树化判定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85800" y="1143000"/>
            <a:ext cx="3390900" cy="5143500"/>
          </a:xfrm>
          <a:prstGeom prst="roundRect">
            <a:avLst>
              <a:gd name="adj" fmla="val 4494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33450" y="1447800"/>
            <a:ext cx="2895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75000"/>
                  </a:srgbClr>
                </a:solidFill>
                <a:latin typeface="JetBrains Mono"/>
                <a:ea typeface="JetBrains Mono"/>
              </a:rPr>
              <a:t>DECISION ORDER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933450" y="1743075"/>
            <a:ext cx="2895600" cy="4286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判定顺序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933450" y="23050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33450" y="2571750"/>
            <a:ext cx="1714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①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200150" y="2571750"/>
            <a:ext cx="1762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先看桶内节点数够不够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 8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33450" y="3000375"/>
            <a:ext cx="1714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②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200150" y="3000375"/>
            <a:ext cx="16954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再看桶的数量够不够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 64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33450" y="3429000"/>
            <a:ext cx="1714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③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200150" y="3429000"/>
            <a:ext cx="24288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两问都过才树化，任一不过走扩容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33450" y="3857625"/>
            <a:ext cx="17145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④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200150" y="3857625"/>
            <a:ext cx="26289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节点掉到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 6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及以下时，树退化成链表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33450" y="5305425"/>
            <a:ext cx="28956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一句话记：先量桶内，再量全局。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33450" y="5676900"/>
            <a:ext cx="28956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62000"/>
                  </a:srgbClr>
                </a:solidFill>
                <a:latin typeface="JetBrains Mono"/>
                <a:ea typeface="JetBrains Mono"/>
              </a:rPr>
              <a:t>TREEIFY_THRESHOLD / MIN_TREEIFY_CAPACITY / UNTREEIFY_THRESHOLD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4343400" y="11430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判定不是一步到位：先看当前桶，再看整张表。</a:t>
            </a:r>
            <a:endParaRPr/>
          </a:p>
        </p:txBody>
      </p:sp>
      <p:pic>
        <p:nvPicPr>
          <p:cNvPr id="4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43400" y="1457325"/>
            <a:ext cx="190500" cy="2609850"/>
          </a:xfrm>
          <a:prstGeom prst="rect">
            <a:avLst/>
          </a:prstGeom>
          <a:ln/>
        </p:spPr>
      </p:pic>
      <p:sp>
        <p:nvSpPr>
          <p:cNvPr id="499" name=""/>
          <p:cNvSpPr/>
          <p:nvPr/>
        </p:nvSpPr>
        <p:spPr>
          <a:xfrm rot="0" flipH="0" flipV="0">
            <a:off x="4667250" y="1457325"/>
            <a:ext cx="40767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4667250" y="1457325"/>
            <a:ext cx="4076700" cy="781050"/>
          </a:xfrm>
          <a:custGeom>
            <a:pathLst>
              <a:path w="428" h="8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6"/>
                </a:lnTo>
                <a:cubicBezTo>
                  <a:pt x="4" y="79"/>
                  <a:pt x="6" y="81"/>
                  <a:pt x="9" y="82"/>
                </a:cubicBezTo>
                <a:cubicBezTo>
                  <a:pt x="4" y="81"/>
                  <a:pt x="0" y="77"/>
                  <a:pt x="0" y="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4819650" y="161925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桶内节点数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 xml:space="preserve"> ≥ 8 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？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4819650" y="188595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只看当前这个桶里的节点数量</a:t>
            </a:r>
            <a:endParaRPr/>
          </a:p>
        </p:txBody>
      </p:sp>
      <p:pic>
        <p:nvPicPr>
          <p:cNvPr id="5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820150" y="1733550"/>
            <a:ext cx="514350" cy="228600"/>
          </a:xfrm>
          <a:prstGeom prst="rect">
            <a:avLst/>
          </a:prstGeom>
          <a:ln/>
        </p:spPr>
      </p:pic>
      <p:sp>
        <p:nvSpPr>
          <p:cNvPr id="504" name=""/>
          <p:cNvSpPr/>
          <p:nvPr/>
        </p:nvSpPr>
        <p:spPr>
          <a:xfrm rot="0" flipH="0" flipV="0">
            <a:off x="9448800" y="1457325"/>
            <a:ext cx="2057400" cy="781050"/>
          </a:xfrm>
          <a:prstGeom prst="roundRect">
            <a:avLst>
              <a:gd name="adj" fmla="val 12195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/>
            </a:solidFill>
            <a:prstDash val="dash"/>
          </a:ln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9601200" y="1533525"/>
            <a:ext cx="1752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否</a:t>
            </a:r>
            <a:r>
              <a:rPr lang="en-US" sz="1425" b="1">
                <a:solidFill>
                  <a:srgbClr val="B45309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判断扩容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601200" y="1790700"/>
            <a:ext cx="17526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>
                <a:solidFill>
                  <a:srgbClr val="92400E"/>
                </a:solidFill>
                <a:latin typeface="思源黑体"/>
                <a:ea typeface="思源黑体"/>
              </a:rPr>
              <a:t>不树化，直接看要不要扩容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4667250" y="2371725"/>
            <a:ext cx="40767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4667250" y="2371725"/>
            <a:ext cx="4076700" cy="781050"/>
          </a:xfrm>
          <a:custGeom>
            <a:pathLst>
              <a:path w="428" h="8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6"/>
                </a:lnTo>
                <a:cubicBezTo>
                  <a:pt x="4" y="79"/>
                  <a:pt x="6" y="81"/>
                  <a:pt x="9" y="82"/>
                </a:cubicBezTo>
                <a:cubicBezTo>
                  <a:pt x="4" y="81"/>
                  <a:pt x="0" y="77"/>
                  <a:pt x="0" y="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4819650" y="253365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桶数量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 xml:space="preserve"> ≥ 64 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？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4819650" y="280035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即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table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数组长度，也就是容量</a:t>
            </a:r>
            <a:endParaRPr/>
          </a:p>
        </p:txBody>
      </p:sp>
      <p:pic>
        <p:nvPicPr>
          <p:cNvPr id="5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820150" y="2647950"/>
            <a:ext cx="514350" cy="228600"/>
          </a:xfrm>
          <a:prstGeom prst="rect">
            <a:avLst/>
          </a:prstGeom>
          <a:ln/>
        </p:spPr>
      </p:pic>
      <p:sp>
        <p:nvSpPr>
          <p:cNvPr id="512" name=""/>
          <p:cNvSpPr/>
          <p:nvPr/>
        </p:nvSpPr>
        <p:spPr>
          <a:xfrm rot="0" flipH="0" flipV="0">
            <a:off x="9448800" y="2371725"/>
            <a:ext cx="2057400" cy="781050"/>
          </a:xfrm>
          <a:prstGeom prst="roundRect">
            <a:avLst>
              <a:gd name="adj" fmla="val 12195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/>
            </a:solidFill>
            <a:prstDash val="dash"/>
          </a:ln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9601200" y="2543175"/>
            <a:ext cx="1752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否</a:t>
            </a:r>
            <a:r>
              <a:rPr lang="en-US" sz="1425" b="1">
                <a:solidFill>
                  <a:srgbClr val="B45309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扩容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601200" y="2800350"/>
            <a:ext cx="175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2400E"/>
                </a:solidFill>
                <a:latin typeface="思源黑体"/>
                <a:ea typeface="思源黑体"/>
              </a:rPr>
              <a:t>先扩容，暂不树化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4667250" y="3286125"/>
            <a:ext cx="40767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4667250" y="3286125"/>
            <a:ext cx="4076700" cy="781050"/>
          </a:xfrm>
          <a:custGeom>
            <a:pathLst>
              <a:path w="428" h="8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6"/>
                </a:lnTo>
                <a:cubicBezTo>
                  <a:pt x="4" y="79"/>
                  <a:pt x="6" y="81"/>
                  <a:pt x="9" y="82"/>
                </a:cubicBezTo>
                <a:cubicBezTo>
                  <a:pt x="4" y="81"/>
                  <a:pt x="0" y="77"/>
                  <a:pt x="0" y="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819650" y="344805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两问都过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该桶树化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819650" y="371475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链表节点升级为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TreeNode</a:t>
            </a:r>
            <a:endParaRPr/>
          </a:p>
        </p:txBody>
      </p:sp>
      <p:pic>
        <p:nvPicPr>
          <p:cNvPr id="5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820150" y="3562350"/>
            <a:ext cx="514350" cy="228600"/>
          </a:xfrm>
          <a:prstGeom prst="rect">
            <a:avLst/>
          </a:prstGeom>
          <a:ln/>
        </p:spPr>
      </p:pic>
      <p:sp>
        <p:nvSpPr>
          <p:cNvPr id="520" name=""/>
          <p:cNvSpPr/>
          <p:nvPr/>
        </p:nvSpPr>
        <p:spPr>
          <a:xfrm rot="0" flipH="0" flipV="0">
            <a:off x="9448800" y="3286125"/>
            <a:ext cx="2057400" cy="781050"/>
          </a:xfrm>
          <a:prstGeom prst="roundRect">
            <a:avLst>
              <a:gd name="adj" fmla="val 12195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601200" y="3343275"/>
            <a:ext cx="17526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结果：</a:t>
            </a:r>
            <a:r>
              <a:rPr lang="en-US" sz="1425" b="1">
                <a:solidFill>
                  <a:srgbClr val="B45309"/>
                </a:solidFill>
                <a:latin typeface="思源黑体"/>
                <a:ea typeface="思源黑体"/>
              </a:rPr>
              <a:t>O(n) → O(logn)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9601200" y="3819525"/>
            <a:ext cx="175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2400E"/>
                </a:solidFill>
                <a:latin typeface="思源黑体"/>
                <a:ea typeface="思源黑体"/>
              </a:rPr>
              <a:t>桶内查找由线性变对数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4343400" y="5276850"/>
            <a:ext cx="3505200" cy="1009650"/>
          </a:xfrm>
          <a:prstGeom prst="roundRect">
            <a:avLst>
              <a:gd name="adj" fmla="val 11321"/>
            </a:avLst>
          </a:prstGeom>
          <a:solidFill>
            <a:srgbClr val="06B6D4">
              <a:alpha val="9000"/>
            </a:srgbClr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514850" y="537210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思源黑体"/>
                <a:ea typeface="思源黑体"/>
              </a:rPr>
              <a:t xml:space="preserve">8 </a:t>
            </a:r>
            <a:r>
              <a:rPr lang="zh-CN" sz="1350" b="1">
                <a:solidFill>
                  <a:srgbClr val="0891B2"/>
                </a:solidFill>
                <a:latin typeface="思源黑体"/>
                <a:ea typeface="思源黑体"/>
              </a:rPr>
              <a:t>与</a:t>
            </a:r>
            <a:r>
              <a:rPr lang="en-US" sz="1350" b="1">
                <a:solidFill>
                  <a:srgbClr val="0891B2"/>
                </a:solidFill>
                <a:latin typeface="思源黑体"/>
                <a:ea typeface="思源黑体"/>
              </a:rPr>
              <a:t xml:space="preserve"> 6 </a:t>
            </a:r>
            <a:r>
              <a:rPr lang="zh-CN" sz="1350" b="1">
                <a:solidFill>
                  <a:srgbClr val="0891B2"/>
                </a:solidFill>
                <a:latin typeface="思源黑体"/>
                <a:ea typeface="思源黑体"/>
              </a:rPr>
              <a:t>之间的缓冲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514850" y="56388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留出差值，防止扩容或删除时在链表、红黑树之间频繁来回切换。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8001000" y="5276850"/>
            <a:ext cx="3505200" cy="1009650"/>
          </a:xfrm>
          <a:prstGeom prst="roundRect">
            <a:avLst>
              <a:gd name="adj" fmla="val 11321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172450" y="5372100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为什么不用</a:t>
            </a:r>
            <a:r>
              <a:rPr lang="en-US" sz="1350" b="1">
                <a:solidFill>
                  <a:srgbClr val="2563EB"/>
                </a:solidFill>
                <a:latin typeface="思源黑体"/>
                <a:ea typeface="思源黑体"/>
              </a:rPr>
              <a:t xml:space="preserve"> AVL </a:t>
            </a: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树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172450" y="56388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 xml:space="preserve">AVL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平衡更严格、旋转代价大；红黑树平衡更宽松，插入删除旋转更少。</a:t>
            </a:r>
            <a:endParaRPr/>
          </a:p>
        </p:txBody>
      </p:sp>
      <p:pic>
        <p:nvPicPr>
          <p:cNvPr id="5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hash 扰动函数与桶索引计算&lt;/Text&gt;&#10;        &lt;Text style={{ fontSize: 14, color: '#64748B', letterSpacing: 1 }}&gt;第 02 章 / 知识点 03&lt;/Text&gt;&#10;    &lt;/Box&gt;&#10;&#10;    &lt;Box style={{ height: 540, padding: '0 72px', flexDirection: 'row', gap: 28 }}&gt;&#10;        &lt;Box style={{ width: 660, height: 540, flexDirection: 'column', justifyContent: 'center', gap: 16 }}&gt;&#10;            &lt;CodeBlock&#10;                code={`// 扰动函数：让高位也参与运算&#10;static final int hash(Object key) {&#10;    int h;&#10;    return (key == null) ? 0 : (h = key.hashCode()) ^ (h &gt;&gt;&gt; 16);&#10;}&#10;&#10;// 桶索引计算：等价于取模，但用位运算&#10;index = hash &amp; (table.length - 1);`}&#10;                language='java'&#10;                width={656}&#10;                fontSize={14}&#10;                theme='github-dark'&#10;            /&gt;&#10;&#10;            &lt;svg width={656} height={150} viewBox='0 0 656 150'&gt;&#10;                &lt;rect x='10' y='16' width='180' height='46' rx='8' fill='rgba(37,99,235,0.14)' stroke='#2563EB' strokeWidth='2' /&gt;&#10;                &lt;rect x='10' y='82' width='180' height='46' rx='8' fill='rgba(6,182,212,0.16)' stroke='#06B6D4' strokeWidth='2' /&gt;&#10;                &lt;line x1='10' y1='39' x2='190' y2='39' stroke='#2563EB' strokeWidth='2' opacity='0.45' /&gt;&#10;                &lt;line x1='10' y1='105' x2='190' y2='105' stroke='#06B6D4' strokeWidth='2' opacity='0.45' /&gt;&#10;                &lt;line x1='190' y1='39' x2='250' y2='66' stroke='#0F172A' strokeWidth='2' opacity='0.4' /&gt;&#10;                &lt;line x1='190' y1='105' x2='250' y2='78' stroke='#0F172A' strokeWidth='2' opacity='0.4' /&gt;&#10;                &lt;circle cx='276' cy='72' r='26' fill='rgba(15,23,42,0.06)' stroke='#0F172A' strokeWidth='2.5' /&gt;&#10;                &lt;line x1='260' y1='56' x2='292' y2='88' stroke='#0F172A' strokeWidth='2.5' /&gt;&#10;                &lt;line x1='292' y1='56' x2='260' y2='88' stroke='#0F172A' strokeWidth='2.5' /&gt;&#10;                &lt;line x1='302' y1='72' x2='348' y2='72' stroke='#F59E0B' strokeWidth='3' /&gt;&#10;                &lt;polygon points='358,72 344,64 344,80' fill='#F59E0B' /&gt;&#10;                &lt;rect x='358' y='49' width='200' height='46' rx='8' fill='rgba(245,158,11,0.18)' stroke='#F59E0B' strokeWidth='2.5' /&gt;&#10;                &lt;line x1='368' y1='72' x2='548' y2='72' stroke='#F59E0B' strokeWidth='2' opacity='0.45' /&gt;&#10;                &lt;rect x='590' y='49' width='56' height='46' rx='8' fill='rgba(37,99,235,0.10)' stroke='#2563EB' strokeWidth='2' /&gt;&#10;                &lt;line x1='596' y1='72' x2='640' y2='72' stroke='#2563EB' strokeWidth='2.5' /&gt;&#10;            &lt;/svg&gt;&#10;&#10;            &lt;Text style={{ fontSize: 16, color: '#64748B' }}&gt;&#10;                高 16 位 ⊕ 低 16 位 → 扰动后的 hash → 与 table.length - 1 做与运算，得到桶下标。&#10;            &lt;/Text&gt;&#10;        &lt;/Box&gt;&#10;&#10;        &lt;Box style={{ flex: 1, height: 540, flexDirection: 'column', justifyContent: 'space-between' }}&gt;&#10;            &lt;Box style={{ padding: '14px 18px', borderRadius: 12, borderLeft: '4px solid #2563EB', background: '#F8FAFC' }}&gt;&#10;                &lt;Text style={{ fontSize: 19, fontWeight: 'bold', color: '#2563EB' }}&gt;无符号右移 &amp;gt;&amp;gt;&amp;gt;&lt;/Text&gt;&#10;                &lt;Text style={{ fontSize: 17, color: '#475569', lineHeight: 1.5, marginTop: 6 }}&gt;&#10;                    把 hashCode 的高 16 位无符号右移到低 16 位，为下一步混合做准备。&#10;                &lt;/Text&gt;&#10;            &lt;/Box&gt;&#10;&#10;            &lt;Box style={{ padding: '14px 18px', borderRadius: 12, borderLeft: '4px solid #06B6D4', background: '#F8FAFC' }}&gt;&#10;                &lt;Text style={{ fontSize: 19, fontWeight: 'bold', color: '#0891B2' }}&gt;异或 ^&lt;/Text&gt;&#10;                &lt;Text style={{ fontSize: 17, color: '#475569', lineHeight: 1.5, marginTop: 6 }}&gt;&#10;                    把高低 16 位混合，让高位信息参与低位运算，减少哈希碰撞。&#10;                &lt;/Text&gt;&#10;            &lt;/Box&gt;&#10;&#10;            &lt;Box style={{ padding: '14px 18px', borderRadius: 12, borderLeft: '4px solid #2563EB', background: '#F8FAFC' }}&gt;&#10;                &lt;Text style={{ fontSize: 19, fontWeight: 'bold', color: '#2563EB' }}&gt;null 键&lt;/Text&gt;&#10;                &lt;Text style={{ fontSize: 17, color: '#475569', lineHeight: 1.5, marginTop: 6 }}&gt;&#10;                    key 为 null 时扰动函数直接返回 0，这个键会放在 0 号桶里。&#10;                &lt;/Text&gt;&#10;            &lt;/Box&gt;&#10;&#10;            &lt;Box style={{ padding: '14px 18px', borderRadius: 12, borderLeft: '4px solid #F59E0B', background: 'rgba(245,158,11,0.08)' }}&gt;&#10;                &lt;Text style={{ fontSize: 19, fontWeight: 'bold', color: '#B45309' }}&gt;桶索引 = hash &amp; (n - 1)&lt;/Text&gt;&#10;                &lt;Text style={{ fontSize: 17, color: '#475569', lineHeight: 1.5, marginTop: 6 }}&gt;&#10;                    容量强制为 2 的幂，此时与运算等价于取模，但比取模更快。&#10;                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10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171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扰动函数与桶索引计算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03</a:t>
            </a:r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943350"/>
            <a:ext cx="6248400" cy="142875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5524500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高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位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⊕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低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位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扰动后的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hash →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与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table.length - 1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做与运算，得到桶下标。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7277100" y="1143000"/>
            <a:ext cx="42672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7277100" y="1143000"/>
            <a:ext cx="4267200" cy="1133475"/>
          </a:xfrm>
          <a:custGeom>
            <a:pathLst>
              <a:path w="448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48550" y="1276350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无符号右移</a:t>
            </a: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 &gt;&gt;&gt;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48550" y="1552575"/>
            <a:ext cx="3886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把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hashCode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的高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位无符号右移到低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位，为下一步混合做准备。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277100" y="2476500"/>
            <a:ext cx="42672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7277100" y="2476500"/>
            <a:ext cx="4267200" cy="1133475"/>
          </a:xfrm>
          <a:custGeom>
            <a:pathLst>
              <a:path w="448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448550" y="2609850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891B2"/>
                </a:solidFill>
                <a:latin typeface="思源黑体"/>
                <a:ea typeface="思源黑体"/>
              </a:rPr>
              <a:t>异或</a:t>
            </a:r>
            <a:r>
              <a:rPr lang="en-US" sz="1425" b="1">
                <a:solidFill>
                  <a:srgbClr val="0891B2"/>
                </a:solidFill>
                <a:latin typeface="思源黑体"/>
                <a:ea typeface="思源黑体"/>
              </a:rPr>
              <a:t xml:space="preserve"> ^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48550" y="2886075"/>
            <a:ext cx="3886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把高低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16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位混合，让高位信息参与低位运算，减少哈希碰撞。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277100" y="3819525"/>
            <a:ext cx="42672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7277100" y="3819525"/>
            <a:ext cx="4267200" cy="1133475"/>
          </a:xfrm>
          <a:custGeom>
            <a:pathLst>
              <a:path w="448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48550" y="395287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null </a:t>
            </a: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键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48550" y="4229100"/>
            <a:ext cx="3886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key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null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时扰动函数直接返回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，这个键会放在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号桶里。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277100" y="5153025"/>
            <a:ext cx="4267200" cy="1133475"/>
          </a:xfrm>
          <a:prstGeom prst="roundRect">
            <a:avLst>
              <a:gd name="adj" fmla="val 10084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7277100" y="5153025"/>
            <a:ext cx="4267200" cy="1133475"/>
          </a:xfrm>
          <a:custGeom>
            <a:pathLst>
              <a:path w="448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48550" y="528637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桶索引</a:t>
            </a:r>
            <a:r>
              <a:rPr lang="en-US" sz="1425" b="1">
                <a:solidFill>
                  <a:srgbClr val="B45309"/>
                </a:solidFill>
                <a:latin typeface="思源黑体"/>
                <a:ea typeface="思源黑体"/>
              </a:rPr>
              <a:t xml:space="preserve"> = hash &amp; (n - 1)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448550" y="5562600"/>
            <a:ext cx="3886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容量强制为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的幂，此时与运算等价于取模，但比取模更快。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10 / 18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5800" y="1724025"/>
            <a:ext cx="6286500" cy="2066925"/>
          </a:xfrm>
          <a:prstGeom prst="roundRect">
            <a:avLst>
              <a:gd name="adj" fmla="val 3687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45" name=""/>
          <p:cNvSpPr txBox="1"/>
          <p:nvPr/>
        </p:nvSpPr>
        <p:spPr>
          <a:xfrm rot="0" flipH="0" flipV="0">
            <a:off x="838200" y="1857375"/>
            <a:ext cx="5981700" cy="1800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扰动函数：让高位也参与运算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static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final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hash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(Object key) {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(key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null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?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(h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key.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hashCode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())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^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(h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&gt;&gt;&gt;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16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);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// 桶索引计算：等价于取模，但用位运算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index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hash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&amp;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(table.length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-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);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6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put 全流程：五步走完一次插入&lt;/Text&gt;&#10;        &lt;Text style={{ fontSize: 14, color: '#64748B', letterSpacing: 1 }}&gt;第 02 章 / 知识点 04&lt;/Text&gt;&#10;    &lt;/Box&gt;&#10;&#10;    &lt;Box style={{ height: 540, padding: '0 72px', flexDirection: 'column', justifyContent: 'space-between' }}&gt;&#10;        &lt;Box style={{ flexDirection: 'row', gap: 20, alignItems: 'center' }}&gt;&#10;            &lt;Box style={{&#10;                height: 58,&#10;                flex: 1,&#10;                padding: '0 20px',&#10;                borderRadius: 12,&#10;                background: 'linear-gradient(160deg, #0F172A 0%, #1E293B 100%)',&#10;                flexDirection: 'row',&#10;                alignItems: 'center',&#10;                justifyContent: 'space-between'&#10;            }}&gt;&#10;                &lt;Text style={{&#10;                    fontSize: 18,&#10;                    color: '#06B6D4',&#10;                    fontFamily: 'JetBrains Mono, Consolas, monospace'&#10;                }}&gt;put(k, v)  →  putVal(hash(key), key, value, false, true)&lt;/Text&gt;&#10;                &lt;Text style={{ fontSize: 15, color: '#94A3B8' }}&gt;入口只做转发，一切逻辑在 putVal 里&lt;/Text&gt;&#10;            &lt;/Box&gt;&#10;        &lt;/Box&gt;&#10;&#10;        &lt;Box style={{ flexDirection: 'row', alignItems: 'center', gap: 26 }}&gt;&#10;            &lt;Box style={{&#10;                width: 300,&#10;                height: 148,&#10;                padding: '12px 16px',&#10;                borderRadius: 12,&#10;                borderLeft: '4px solid #2563EB',&#10;                background: '#F8FAFC',&#10;                flexDirection: 'column',&#10;                gap: 6&#10;            }}&gt;&#10;                &lt;Text style={{ fontSize: 16, color: '#2563EB', fontFamily: 'JetBrains Mono, Consolas, monospace' }}&gt;STEP 01&lt;/Text&gt;&#10;                &lt;Text style={{ fontSize: 18, fontWeight: 'bold', color: '#0F172A', lineHeight: 1.4 }}&gt;table 为 null 或长度为 0&lt;/Text&gt;&#10;                &lt;Text style={{ fontSize: 15, color: '#64748B', lineHeight: 1.5 }}&gt;调 resize 初始化数组，懒加载式&lt;/Text&gt;&#10;            &lt;/Box&gt;&#10;            &lt;svg width={30} height={24} viewBox='0 0 30 24'&gt;&#10;                &lt;line x1='0' y1='12' x2='18' y2='12' stroke='#2563EB' strokeWidth='2.5' /&gt;&#10;                &lt;polygon points='26,12 14,6 14,18' fill='#2563EB' /&gt;&#10;            &lt;/svg&gt;&#10;            &lt;Box style={{&#10;                width: 300,&#10;                height: 148,&#10;                padding: '12px 16px',&#10;                borderRadius: 12,&#10;                borderLeft: '4px solid #2563EB',&#10;                background: '#F8FAFC',&#10;                flexDirection: 'column',&#10;                gap: 6&#10;            }}&gt;&#10;                &lt;Text style={{ fontSize: 16, color: '#2563EB', fontFamily: 'JetBrains Mono, Consolas, monospace' }}&gt;STEP 02&lt;/Text&gt;&#10;                &lt;Text style={{ fontSize: 18, fontWeight: 'bold', color: '#0F172A', lineHeight: 1.4 }}&gt;计算 hash，定位桶下标&lt;/Text&gt;&#10;                &lt;Text style={{ fontSize: 15, color: '#64748B', lineHeight: 1.5 }}&gt;index = hash &amp;amp; (length - 1)&lt;/Text&gt;&#10;            &lt;/Box&gt;&#10;            &lt;svg width={30} height={24} viewBox='0 0 30 24'&gt;&#10;                &lt;line x1='0' y1='12' x2='18' y2='12' stroke='#2563EB' strokeWidth='2.5' /&gt;&#10;                &lt;polygon points='26,12 14,6 14,18' fill='#2563EB' /&gt;&#10;            &lt;/svg&gt;&#10;            &lt;Box style={{&#10;                width: 300,&#10;                height: 148,&#10;                padding: '12px 16px',&#10;                borderRadius: 12,&#10;                borderLeft: '4px solid #06B6D4',&#10;                background: '#F8FAFC',&#10;                flexDirection: 'column',&#10;                gap: 6&#10;            }}&gt;&#10;                &lt;Text style={{ fontSize: 16, color: '#0891B2', fontFamily: 'JetBrains Mono, Consolas, monospace' }}&gt;STEP 03&lt;/Text&gt;&#10;                &lt;Text style={{ fontSize: 18, fontWeight: 'bold', color: '#0F172A', lineHeight: 1.4 }}&gt;看桶头节点类型&lt;/Text&gt;&#10;                &lt;Text style={{ fontSize: 15, color: '#64748B', lineHeight: 1.5 }}&gt;链表走尾插法，红黑树走树插入&lt;/Text&gt;&#10;            &lt;/Box&gt;&#10;        &lt;/Box&gt;&#10;&#10;        &lt;svg width={1136} height={52} viewBox='0 0 1136 52'&gt;&#10;            &lt;line x1='975' y1='0' x2='975' y2='26' stroke='#2563EB' strokeWidth='2.5' opacity='0.7' /&gt;&#10;            &lt;line x1='975' y1='26' x2='546' y2='26' stroke='#2563EB' strokeWidth='2.5' opacity='0.7' /&gt;&#10;            &lt;line x1='546' y1='26' x2='546' y2='40' stroke='#2563EB' strokeWidth='2.5' opacity='0.7' /&gt;&#10;            &lt;polygon points='546,50 540,38 552,38' fill='#2563EB' opacity='0.85' /&gt;&#10;        &lt;/svg&gt;&#10;&#10;        &lt;Box style={{ flexDirection: 'row', alignItems: 'center', gap: 26, justifyContent: 'flex-end' }}&gt;&#10;            &lt;Box style={{&#10;                width: 300,&#10;                height: 148,&#10;                padding: '12px 16px',&#10;                borderRadius: 12,&#10;                borderLeft: '4px solid #F59E0B',&#10;                background: 'rgba(245,158,11,0.08)',&#10;                flexDirection: 'column',&#10;                gap: 6&#10;            }}&gt;&#10;                &lt;Text style={{ fontSize: 16, color: '#B45309', fontFamily: 'JetBrains Mono, Consolas, monospace' }}&gt;STEP 04&lt;/Text&gt;&#10;                &lt;Text style={{ fontSize: 18, fontWeight: 'bold', color: '#0F172A', lineHeight: 1.4 }}&gt;插入后判树化&lt;/Text&gt;&#10;                &lt;Text style={{ fontSize: 15, color: '#64748B', lineHeight: 1.5 }}&gt;桶内节点 ≥ 8 且桶数 ≥ 64&lt;/Text&gt;&#10;            &lt;/Box&gt;&#10;            &lt;svg width={30} height={24} viewBox='0 0 30 24'&gt;&#10;                &lt;line x1='0' y1='12' x2='18' y2='12' stroke='#F59E0B' strokeWidth='2.5' /&gt;&#10;                &lt;polygon points='26,12 14,6 14,18' fill='#F59E0B' /&gt;&#10;            &lt;/svg&gt;&#10;            &lt;Box style={{&#10;                width: 300,&#10;                height: 148,&#10;                padding: '12px 16px',&#10;                borderRadius: 12,&#10;                borderLeft: '4px solid #F59E0B',&#10;                background: 'rgba(245,158,11,0.08)',&#10;                flexDirection: 'column',&#10;                gap: 6&#10;            }}&gt;&#10;                &lt;Text style={{ fontSize: 16, color: '#B45309', fontFamily: 'JetBrains Mono, Consolas, monospace' }}&gt;STEP 05&lt;/Text&gt;&#10;                &lt;Text style={{ fontSize: 18, fontWeight: 'bold', color: '#0F172A', lineHeight: 1.4 }}&gt;最后判扩容&lt;/Text&gt;&#10;                &lt;Text style={{ fontSize: 15, color: '#64748B', lineHeight: 1.5 }}&gt;size 超过阈值就扩容 2 倍&lt;/Text&gt;&#10;            &lt;/Box&gt;&#10;        &lt;/Box&gt;&#10;&#10;        &lt;Box style={{ flexDirection: 'row', gap: 20 }}&gt;&#10;            &lt;Box style={{ flex: 1.7, padding: '14px 20px', borderRadius: 12, background: 'rgba(37,99,235,0.07)' }}&gt;&#10;                &lt;Text style={{ fontSize: 19, fontWeight: 'bold', color: '#2563EB' }}&gt;整条流程只有两个出口&lt;/Text&gt;&#10;                &lt;Text style={{ fontSize: 17, color: '#475569', lineHeight: 1.5, marginTop: 6 }}&gt;&#10;                    桶为空，直接把新节点放进去；桶非空，先按桶头类型分叉，再依次判断树化与扩容。&#10;                &lt;/Text&gt;&#10;            &lt;/Box&gt;&#10;            &lt;Box style={{ flex: 1, padding: '14px 20px', borderRadius: 12, background: 'rgba(6,182,212,0.09)' }}&gt;&#10;                &lt;Text style={{ fontSize: 19, fontWeight: 'bold', color: '#0891B2' }}&gt;懒加载的意义&lt;/Text&gt;&#10;                &lt;Text style={{ fontSize: 17, color: '#475569', lineHeight: 1.5, marginTop: 6 }}&gt;&#10;                    只有第一次 put 才会初始化 table，避免创建空表就占内存。&#10;                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11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619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全流程：五步走完一次插入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04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85800" y="1143000"/>
            <a:ext cx="10820400" cy="552450"/>
          </a:xfrm>
          <a:prstGeom prst="roundRect">
            <a:avLst>
              <a:gd name="adj" fmla="val 2069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76300" y="1314450"/>
            <a:ext cx="5286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06B6D4"/>
                </a:solidFill>
                <a:latin typeface="JetBrains Mono"/>
                <a:ea typeface="JetBrains Mono"/>
              </a:rPr>
              <a:t>put(k, v)  →  putVal(hash(key), key, value, false, true)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934450" y="1333500"/>
            <a:ext cx="238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入口只做转发，一切逻辑在</a:t>
            </a: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 xml:space="preserve"> putVal </a:t>
            </a: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里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23900" y="1733550"/>
            <a:ext cx="28194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723900" y="1733550"/>
            <a:ext cx="2819400" cy="1409700"/>
          </a:xfrm>
          <a:custGeom>
            <a:pathLst>
              <a:path w="296" h="14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0"/>
                </a:lnTo>
                <a:cubicBezTo>
                  <a:pt x="4" y="144"/>
                  <a:pt x="7" y="147"/>
                  <a:pt x="10" y="148"/>
                </a:cubicBezTo>
                <a:cubicBezTo>
                  <a:pt x="4" y="147"/>
                  <a:pt x="0" y="142"/>
                  <a:pt x="0" y="13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76300" y="18478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563EB"/>
                </a:solidFill>
                <a:latin typeface="JetBrains Mono"/>
                <a:ea typeface="JetBrains Mono"/>
              </a:rPr>
              <a:t>STEP 01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76300" y="2095500"/>
            <a:ext cx="2514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table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为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 null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或长度为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 0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76300" y="244792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调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 xml:space="preserve"> resize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初始化数组，懒加载式</a:t>
            </a:r>
            <a:endParaRPr/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790950" y="2324100"/>
            <a:ext cx="285750" cy="228600"/>
          </a:xfrm>
          <a:prstGeom prst="rect">
            <a:avLst/>
          </a:prstGeom>
          <a:ln/>
        </p:spPr>
      </p:pic>
      <p:sp>
        <p:nvSpPr>
          <p:cNvPr id="59" name=""/>
          <p:cNvSpPr/>
          <p:nvPr/>
        </p:nvSpPr>
        <p:spPr>
          <a:xfrm rot="0" flipH="0" flipV="0">
            <a:off x="4362450" y="1733550"/>
            <a:ext cx="28194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4362450" y="1733550"/>
            <a:ext cx="2819400" cy="1409700"/>
          </a:xfrm>
          <a:custGeom>
            <a:pathLst>
              <a:path w="296" h="14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0"/>
                </a:lnTo>
                <a:cubicBezTo>
                  <a:pt x="4" y="144"/>
                  <a:pt x="7" y="147"/>
                  <a:pt x="10" y="148"/>
                </a:cubicBezTo>
                <a:cubicBezTo>
                  <a:pt x="4" y="147"/>
                  <a:pt x="0" y="142"/>
                  <a:pt x="0" y="13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514850" y="18478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563EB"/>
                </a:solidFill>
                <a:latin typeface="JetBrains Mono"/>
                <a:ea typeface="JetBrains Mono"/>
              </a:rPr>
              <a:t>STEP 02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514850" y="2095500"/>
            <a:ext cx="2514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计算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 hash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，定位桶下标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514850" y="244792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>index = hash &amp; (length - 1)</a:t>
            </a:r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0" y="2324100"/>
            <a:ext cx="285750" cy="228600"/>
          </a:xfrm>
          <a:prstGeom prst="rect">
            <a:avLst/>
          </a:prstGeom>
          <a:ln/>
        </p:spPr>
      </p:pic>
      <p:sp>
        <p:nvSpPr>
          <p:cNvPr id="65" name=""/>
          <p:cNvSpPr/>
          <p:nvPr/>
        </p:nvSpPr>
        <p:spPr>
          <a:xfrm rot="0" flipH="0" flipV="0">
            <a:off x="8001000" y="1733550"/>
            <a:ext cx="28194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8001000" y="1733550"/>
            <a:ext cx="2819400" cy="1409700"/>
          </a:xfrm>
          <a:custGeom>
            <a:pathLst>
              <a:path w="296" h="14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0"/>
                </a:lnTo>
                <a:cubicBezTo>
                  <a:pt x="4" y="144"/>
                  <a:pt x="7" y="147"/>
                  <a:pt x="10" y="148"/>
                </a:cubicBezTo>
                <a:cubicBezTo>
                  <a:pt x="4" y="147"/>
                  <a:pt x="0" y="142"/>
                  <a:pt x="0" y="13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153400" y="184785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891B2"/>
                </a:solidFill>
                <a:latin typeface="JetBrains Mono"/>
                <a:ea typeface="JetBrains Mono"/>
              </a:rPr>
              <a:t>STEP 03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153400" y="2095500"/>
            <a:ext cx="2514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看桶头节点类型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153400" y="244792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链表走尾插法，红黑树走树插入</a:t>
            </a:r>
            <a:endParaRPr/>
          </a:p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3181350"/>
            <a:ext cx="10820400" cy="495300"/>
          </a:xfrm>
          <a:prstGeom prst="rect">
            <a:avLst/>
          </a:prstGeom>
          <a:ln/>
        </p:spPr>
      </p:pic>
      <p:sp>
        <p:nvSpPr>
          <p:cNvPr id="71" name=""/>
          <p:cNvSpPr/>
          <p:nvPr/>
        </p:nvSpPr>
        <p:spPr>
          <a:xfrm rot="0" flipH="0" flipV="0">
            <a:off x="5048250" y="3705225"/>
            <a:ext cx="2819400" cy="1409700"/>
          </a:xfrm>
          <a:prstGeom prst="roundRect">
            <a:avLst>
              <a:gd name="adj" fmla="val 8108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5048250" y="3705225"/>
            <a:ext cx="2819400" cy="1409700"/>
          </a:xfrm>
          <a:custGeom>
            <a:pathLst>
              <a:path w="296" h="14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0"/>
                </a:lnTo>
                <a:cubicBezTo>
                  <a:pt x="4" y="144"/>
                  <a:pt x="7" y="147"/>
                  <a:pt x="10" y="148"/>
                </a:cubicBezTo>
                <a:cubicBezTo>
                  <a:pt x="4" y="147"/>
                  <a:pt x="0" y="142"/>
                  <a:pt x="0" y="13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200650" y="38195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45309"/>
                </a:solidFill>
                <a:latin typeface="JetBrains Mono"/>
                <a:ea typeface="JetBrains Mono"/>
              </a:rPr>
              <a:t>STEP 04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200650" y="4067175"/>
            <a:ext cx="2514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插入后判树化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00650" y="441960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桶内节点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 xml:space="preserve"> ≥ 8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且桶数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 xml:space="preserve"> ≥ 64</a:t>
            </a:r>
            <a:endParaRPr/>
          </a:p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15300" y="4295775"/>
            <a:ext cx="285750" cy="228600"/>
          </a:xfrm>
          <a:prstGeom prst="rect">
            <a:avLst/>
          </a:prstGeom>
          <a:ln/>
        </p:spPr>
      </p:pic>
      <p:sp>
        <p:nvSpPr>
          <p:cNvPr id="77" name=""/>
          <p:cNvSpPr/>
          <p:nvPr/>
        </p:nvSpPr>
        <p:spPr>
          <a:xfrm rot="0" flipH="0" flipV="0">
            <a:off x="8686800" y="3705225"/>
            <a:ext cx="2819400" cy="1409700"/>
          </a:xfrm>
          <a:prstGeom prst="roundRect">
            <a:avLst>
              <a:gd name="adj" fmla="val 8108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8686800" y="3705225"/>
            <a:ext cx="2819400" cy="1409700"/>
          </a:xfrm>
          <a:custGeom>
            <a:pathLst>
              <a:path w="296" h="14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0"/>
                </a:lnTo>
                <a:cubicBezTo>
                  <a:pt x="4" y="144"/>
                  <a:pt x="7" y="147"/>
                  <a:pt x="10" y="148"/>
                </a:cubicBezTo>
                <a:cubicBezTo>
                  <a:pt x="4" y="147"/>
                  <a:pt x="0" y="142"/>
                  <a:pt x="0" y="13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839200" y="381952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45309"/>
                </a:solidFill>
                <a:latin typeface="JetBrains Mono"/>
                <a:ea typeface="JetBrains Mono"/>
              </a:rPr>
              <a:t>STEP 05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839200" y="4067175"/>
            <a:ext cx="25146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最后判扩容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839200" y="4419600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 xml:space="preserve">size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超过阈值就扩容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倍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85800" y="5153025"/>
            <a:ext cx="6696075" cy="1133475"/>
          </a:xfrm>
          <a:prstGeom prst="roundRect">
            <a:avLst>
              <a:gd name="adj" fmla="val 10084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76300" y="5286375"/>
            <a:ext cx="6315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整条流程只有两个出口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76300" y="5562600"/>
            <a:ext cx="63150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桶为空，直接把新节点放进去；桶非空，先按桶头类型分叉，再依次判断树化与扩容。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572375" y="5153025"/>
            <a:ext cx="3933825" cy="1133475"/>
          </a:xfrm>
          <a:prstGeom prst="roundRect">
            <a:avLst>
              <a:gd name="adj" fmla="val 10084"/>
            </a:avLst>
          </a:prstGeom>
          <a:solidFill>
            <a:srgbClr val="06B6D4">
              <a:alpha val="9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762875" y="5286375"/>
            <a:ext cx="3552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891B2"/>
                </a:solidFill>
                <a:latin typeface="思源黑体"/>
                <a:ea typeface="思源黑体"/>
              </a:rPr>
              <a:t>懒加载的意义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762875" y="5562600"/>
            <a:ext cx="3552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只有第一次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才会初始化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table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，避免创建空表就占内存。</a:t>
            </a:r>
            <a:endParaRPr/>
          </a:p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1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resize 扩容：2 倍扩容与下标迁移&lt;/Text&gt;&#10;        &lt;Text style={{ fontSize: 14, color: '#64748B', letterSpacing: 1 }}&gt;第 02 章 / 知识点 05&lt;/Text&gt;&#10;    &lt;/Box&gt;&#10;&#10;    &lt;Box style={{ height: 540, padding: '0 72px', flexDirection: 'row', gap: 32 }}&gt;&#10;        &lt;Box style={{ width: 640, height: 540, flexDirection: 'column', justifyContent: 'center', gap: 14 }}&gt;&#10;            &lt;svg width={640} height={400} viewBox='0 0 640 400'&gt;&#10;                &lt;rect x='20' y='18' width='130' height='72' rx='10' fill='rgba(37,99,235,0.07)' stroke='rgba(15,23,42,0.25)' strokeWidth='1' /&gt;&#10;                &lt;rect x='20' y='98' width='130' height='72' rx='10' fill='rgba(6,182,212,0.20)' stroke='#06B6D4' strokeWidth='2.5' /&gt;&#10;                &lt;rect x='20' y='178' width='130' height='72' rx='10' fill='rgba(37,99,235,0.07)' stroke='rgba(15,23,42,0.25)' strokeWidth='1' /&gt;&#10;                &lt;rect x='20' y='258' width='130' height='72' rx='10' fill='rgba(37,99,235,0.07)' stroke='rgba(15,23,42,0.25)' strokeWidth='1' /&gt;&#10;&#10;                &lt;circle cx='50' cy='54' r='10' fill='rgba(37,99,235,0.32)' /&gt;&#10;                &lt;circle cx='50' cy='134' r='10' fill='#06B6D4' /&gt;&#10;                &lt;line x1='64' y1='134' x2='86' y2='134' stroke='#06B6D4' strokeWidth='2' opacity='0.7' /&gt;&#10;                &lt;circle cx='96' cy='134' r='10' fill='#06B6D4' opacity='0.75' /&gt;&#10;                &lt;line x1='110' y1='134' x2='132' y2='134' stroke='#06B6D4' strokeWidth='2' opacity='0.5' /&gt;&#10;                &lt;circle cx='50' cy='214' r='10' fill='rgba(37,99,235,0.32)' /&gt;&#10;                &lt;circle cx='50' cy='294' r='10' fill='rgba(37,99,235,0.32)' /&gt;&#10;&#10;                &lt;rect x='430' y='18' width='150' height='34' rx='8' fill='rgba(37,99,235,0.07)' stroke='rgba(15,23,42,0.25)' strokeWidth='1' /&gt;&#10;                &lt;rect x='430' y='58' width='150' height='34' rx='8' fill='rgba(6,182,212,0.22)' stroke='#06B6D4' strokeWidth='2.5' /&gt;&#10;                &lt;rect x='430' y='98' width='150' height='34' rx='8' fill='rgba(37,99,235,0.07)' stroke='rgba(15,23,42,0.25)' strokeWidth='1' /&gt;&#10;                &lt;rect x='430' y='138' width='150' height='34' rx='8' fill='rgba(37,99,235,0.07)' stroke='rgba(15,23,42,0.25)' strokeWidth='1' /&gt;&#10;                &lt;rect x='430' y='178' width='150' height='34' rx='8' fill='rgba(37,99,235,0.07)' stroke='rgba(15,23,42,0.25)' strokeWidth='1' /&gt;&#10;                &lt;rect x='430' y='218' width='150' height='34' rx='8' fill='rgba(245,158,11,0.22)' stroke='#F59E0B' strokeWidth='2.5' /&gt;&#10;                &lt;rect x='430' y='258' width='150' height='34' rx='8' fill='rgba(37,99,235,0.07)' stroke='rgba(15,23,42,0.25)' strokeWidth='1' /&gt;&#10;                &lt;rect x='430' y='298' width='150' height='34' rx='8' fill='rgba(37,99,235,0.07)' stroke='rgba(15,23,42,0.25)' strokeWidth='1' /&gt;&#10;&#10;                &lt;line x1='400' y1='178' x2='620' y2='178' stroke='#F59E0B' strokeWidth='2' strokeDasharray='7 6' /&gt;&#10;&#10;                &lt;line x1='150' y1='134' x2='300' y2='134' stroke='#06B6D4' strokeWidth='2.5' /&gt;&#10;                &lt;line x1='300' y1='134' x2='300' y2='75' stroke='#06B6D4' strokeWidth='2.5' /&gt;&#10;                &lt;line x1='300' y1='75' x2='420' y2='75' stroke='#06B6D4' strokeWidth='2.5' /&gt;&#10;                &lt;polygon points='430,75 415,67 415,83' fill='#06B6D4' /&gt;&#10;                &lt;line x1='300' y1='134' x2='300' y2='235' stroke='#F59E0B' strokeWidth='2.5' /&gt;&#10;                &lt;line x1='300' y1='235' x2='420' y2='235' stroke='#F59E0B' strokeWidth='2.5' /&gt;&#10;                &lt;polygon points='430,235 415,227 415,243' fill='#F59E0B' /&gt;&#10;&#10;                &lt;rect x='180' y='352' width='200' height='1' rx='1' fill='rgba(15,23,42,0.10)' /&gt;&#10;            &lt;/svg&gt;&#10;&#10;            &lt;Box style={{ flexDirection: 'row', gap: 16 }}&gt;&#10;                &lt;Box style={{ padding: '8px 16px', borderRadius: 999, background: 'rgba(6,182,212,0.12)' }}&gt;&#10;                    &lt;Text style={{ fontSize: 16, color: '#0891B2' }}&gt;hash &amp;amp; 旧容量 = 0 → 下标不变&lt;/Text&gt;&#10;                &lt;/Box&gt;&#10;                &lt;Box style={{ padding: '8px 16px', borderRadius: 999, background: 'rgba(245,158,11,0.14)' }}&gt;&#10;                    &lt;Text style={{ fontSize: 16, color: '#B45309' }}&gt;hash &amp;amp; 旧容量 = 1 → 旧下标 + 旧容量&lt;/Text&gt;&#10;                &lt;/Box&gt;&#10;            &lt;/Box&gt;&#10;        &lt;/Box&gt;&#10;&#10;        &lt;Box style={{ flex: 1, height: 540, flexDirection: 'column', justifyContent: 'space-between' }}&gt;&#10;            &lt;Box style={{&#10;                padding: '16px 20px',&#10;                borderRadius: 12,&#10;                background: 'linear-gradient(160deg, #0F172A 0%, #1E293B 100%)',&#10;                flexDirection: 'column',&#10;                gap: 8&#10;            }}&gt;&#10;                &lt;Text style={{&#10;                    fontSize: 19,&#10;                    color: '#06B6D4',&#10;                    fontFamily: 'JetBrains Mono, Consolas, monospace'&#10;                }}&gt;newCap = oldCap * 2&lt;/Text&gt;&#10;                &lt;Text style={{&#10;                    fontSize: 19,&#10;                    color: '#F59E0B',&#10;                    fontFamily: 'JetBrains Mono, Consolas, monospace'&#10;                }}&gt;newThr = newCap * 0.75&lt;/Text&gt;&#10;            &lt;/Box&gt;&#10;&#10;            &lt;Box style={{ padding: '14px 20px', borderRadius: 12, background: 'rgba(37,99,235,0.07)' }}&gt;&#10;                &lt;Text style={{ fontSize: 19, fontWeight: 'bold', color: '#2563EB' }}&gt;新建数组，但不用重算全部 hash&lt;/Text&gt;&#10;                &lt;Text style={{ fontSize: 17, color: '#475569', lineHeight: 1.5, marginTop: 6 }}&gt;&#10;                    容量翻倍，二进制相当于前面多了一个 1（011 变 111）；只需看节点 hash 与旧容量的与运算结果，就能决定它留在原下标还是迁到旧下标加旧容量的位置。&#10;                &lt;/Text&gt;&#10;            &lt;/Box&gt;&#10;&#10;            &lt;Box style={{ padding: '14px 20px', borderRadius: 12, borderLeft: '4px solid #06B6D4', background: '#F8FAFC' }}&gt;&#10;                &lt;Text style={{ fontSize: 18, fontWeight: 'bold', color: '#0F172A' }}&gt;迁移保持链表原有顺序&lt;/Text&gt;&#10;                &lt;Text style={{ fontSize: 17, color: '#475569', lineHeight: 1.5, marginTop: 6 }}&gt;&#10;                    用尾插法迁移，不会产生环形链表，解决了 JDK1.7 多线程扩容死循环的问题。&#10;                &lt;/Text&gt;&#10;            &lt;/Box&gt;&#10;&#10;            &lt;Box style={{ padding: '14px 20px', borderRadius: 12, borderLeft: '4px solid #F59E0B', background: 'rgba(245,158,11,0.08)' }}&gt;&#10;                &lt;Text style={{ fontSize: 18, fontWeight: 'bold', color: '#B45309' }}&gt;触发时机&lt;/Text&gt;&#10;                &lt;Text style={{ fontSize: 17, color: '#475569', lineHeight: 1.5, marginTop: 6 }}&gt;&#10;                    put 插入成功、size 超过阈值后触发；桶为空时的懒加载初始化也走 resize。&#10;                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1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991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resize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扩容：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2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倍扩容与下标迁移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05</a:t>
            </a:r>
            <a:endParaRPr/>
          </a:p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571625"/>
            <a:ext cx="6096000" cy="3810000"/>
          </a:xfrm>
          <a:prstGeom prst="rect">
            <a:avLst/>
          </a:prstGeom>
          <a:ln/>
        </p:spPr>
      </p:pic>
      <p:sp>
        <p:nvSpPr>
          <p:cNvPr id="96" name=""/>
          <p:cNvSpPr/>
          <p:nvPr/>
        </p:nvSpPr>
        <p:spPr>
          <a:xfrm rot="0" flipH="0" flipV="0">
            <a:off x="685800" y="5514975"/>
            <a:ext cx="2476500" cy="342900"/>
          </a:xfrm>
          <a:prstGeom prst="roundRect">
            <a:avLst>
              <a:gd name="adj" fmla="val 27750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891B2"/>
                </a:solidFill>
                <a:latin typeface="思源黑体"/>
                <a:ea typeface="思源黑体"/>
              </a:rPr>
              <a:t xml:space="preserve">hash &amp; </a:t>
            </a:r>
            <a:r>
              <a:rPr lang="zh-CN" sz="1200">
                <a:solidFill>
                  <a:srgbClr val="0891B2"/>
                </a:solidFill>
                <a:latin typeface="思源黑体"/>
                <a:ea typeface="思源黑体"/>
              </a:rPr>
              <a:t>旧容量</a:t>
            </a:r>
            <a:r>
              <a:rPr lang="en-US" sz="1200">
                <a:solidFill>
                  <a:srgbClr val="0891B2"/>
                </a:solidFill>
                <a:latin typeface="思源黑体"/>
                <a:ea typeface="思源黑体"/>
              </a:rPr>
              <a:t xml:space="preserve"> = 0 → </a:t>
            </a:r>
            <a:r>
              <a:rPr lang="zh-CN" sz="1200">
                <a:solidFill>
                  <a:srgbClr val="0891B2"/>
                </a:solidFill>
                <a:latin typeface="思源黑体"/>
                <a:ea typeface="思源黑体"/>
              </a:rPr>
              <a:t>下标不变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314700" y="5514975"/>
            <a:ext cx="2981325" cy="342900"/>
          </a:xfrm>
          <a:prstGeom prst="roundRect">
            <a:avLst>
              <a:gd name="adj" fmla="val 2775000"/>
            </a:avLst>
          </a:prstGeom>
          <a:solidFill>
            <a:srgbClr val="F59E0B">
              <a:alpha val="14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467100" y="5591175"/>
            <a:ext cx="2676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B45309"/>
                </a:solidFill>
                <a:latin typeface="思源黑体"/>
                <a:ea typeface="思源黑体"/>
              </a:rPr>
              <a:t xml:space="preserve">hash &amp; </a:t>
            </a:r>
            <a:r>
              <a:rPr lang="zh-CN" sz="1200">
                <a:solidFill>
                  <a:srgbClr val="B45309"/>
                </a:solidFill>
                <a:latin typeface="思源黑体"/>
                <a:ea typeface="思源黑体"/>
              </a:rPr>
              <a:t>旧容量</a:t>
            </a:r>
            <a:r>
              <a:rPr lang="en-US" sz="1200">
                <a:solidFill>
                  <a:srgbClr val="B45309"/>
                </a:solidFill>
                <a:latin typeface="思源黑体"/>
                <a:ea typeface="思源黑体"/>
              </a:rPr>
              <a:t xml:space="preserve"> = 1 → </a:t>
            </a:r>
            <a:r>
              <a:rPr lang="zh-CN" sz="1200">
                <a:solidFill>
                  <a:srgbClr val="B45309"/>
                </a:solidFill>
                <a:latin typeface="思源黑体"/>
                <a:ea typeface="思源黑体"/>
              </a:rPr>
              <a:t>旧下标</a:t>
            </a:r>
            <a:r>
              <a:rPr lang="en-US" sz="1200">
                <a:solidFill>
                  <a:srgbClr val="B45309"/>
                </a:solidFill>
                <a:latin typeface="思源黑体"/>
                <a:ea typeface="思源黑体"/>
              </a:rPr>
              <a:t xml:space="preserve"> + </a:t>
            </a:r>
            <a:r>
              <a:rPr lang="zh-CN" sz="1200">
                <a:solidFill>
                  <a:srgbClr val="B45309"/>
                </a:solidFill>
                <a:latin typeface="思源黑体"/>
                <a:ea typeface="思源黑体"/>
              </a:rPr>
              <a:t>旧容量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086600" y="1143000"/>
            <a:ext cx="4419600" cy="819150"/>
          </a:xfrm>
          <a:prstGeom prst="roundRect">
            <a:avLst>
              <a:gd name="adj" fmla="val 13953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277100" y="1295400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06B6D4"/>
                </a:solidFill>
                <a:latin typeface="JetBrains Mono"/>
                <a:ea typeface="JetBrains Mono"/>
              </a:rPr>
              <a:t>newCap = oldCap * 2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277100" y="1590675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59E0B"/>
                </a:solidFill>
                <a:latin typeface="JetBrains Mono"/>
                <a:ea typeface="JetBrains Mono"/>
              </a:rPr>
              <a:t>newThr = newCap * 0.75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086600" y="2181225"/>
            <a:ext cx="4419600" cy="1419225"/>
          </a:xfrm>
          <a:prstGeom prst="roundRect">
            <a:avLst>
              <a:gd name="adj" fmla="val 8054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277100" y="2314575"/>
            <a:ext cx="403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新建数组，但不用重算全部</a:t>
            </a: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 hash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277100" y="2590800"/>
            <a:ext cx="40386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容量翻倍，二进制相当于前面多了一个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（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011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变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111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）；只需看节点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hash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与旧容量的与运算结果，就能决定它留在原下标还是迁到旧下标加旧容量的位置。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124700" y="3819525"/>
            <a:ext cx="44196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7124700" y="3819525"/>
            <a:ext cx="4419600" cy="1123950"/>
          </a:xfrm>
          <a:custGeom>
            <a:pathLst>
              <a:path w="464" h="11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0"/>
                </a:lnTo>
                <a:cubicBezTo>
                  <a:pt x="4" y="114"/>
                  <a:pt x="7" y="117"/>
                  <a:pt x="10" y="118"/>
                </a:cubicBezTo>
                <a:cubicBezTo>
                  <a:pt x="4" y="117"/>
                  <a:pt x="0" y="112"/>
                  <a:pt x="0" y="10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315200" y="3952875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迁移保持链表原有顺序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315200" y="4219575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用尾插法迁移，不会产生环形链表，解决了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JDK1.7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多线程扩容死循环的问题。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124700" y="5162550"/>
            <a:ext cx="4419600" cy="1123950"/>
          </a:xfrm>
          <a:prstGeom prst="roundRect">
            <a:avLst>
              <a:gd name="adj" fmla="val 10169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7124700" y="5162550"/>
            <a:ext cx="4419600" cy="1123950"/>
          </a:xfrm>
          <a:custGeom>
            <a:pathLst>
              <a:path w="464" h="11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0"/>
                </a:lnTo>
                <a:cubicBezTo>
                  <a:pt x="4" y="114"/>
                  <a:pt x="7" y="117"/>
                  <a:pt x="10" y="118"/>
                </a:cubicBezTo>
                <a:cubicBezTo>
                  <a:pt x="4" y="117"/>
                  <a:pt x="0" y="112"/>
                  <a:pt x="0" y="10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315200" y="5295900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45309"/>
                </a:solidFill>
                <a:latin typeface="思源黑体"/>
                <a:ea typeface="思源黑体"/>
              </a:rPr>
              <a:t>触发时机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315200" y="5562600"/>
            <a:ext cx="4000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插入成功、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size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超过阈值后触发；桶为空时的懒加载初始化也走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resize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7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get 流程：null 键与桶内查找&lt;/Text&gt;&#10;        &lt;Text style={{ fontSize: 14, color: '#64748B', letterSpacing: 1 }}&gt;第 02 章 / 知识点 06&lt;/Text&gt;&#10;    &lt;/Box&gt;&#10;&#10;    &lt;Box style={{ height: 540, padding: '0 72px', flexDirection: 'row', gap: 28 }}&gt;&#10;        &lt;Box style={{&#10;            width: 340,&#10;            height: 540,&#10;            padding: '32px 26px',&#10;            borderRadius: 16,&#10;            background: 'linear-gradient(135deg, #2563EB 0%, #06B6D4 100%)',&#10;            justifyContent: 'space-between'&#10;        }}&gt;&#10;            &lt;Box style={{ flexDirection: 'column', gap: 16 }}&gt;&#10;                &lt;Text style={{&#10;                    fontSize: 14,&#10;                    letterSpacing: 3,&#10;                    color: 'rgba(255,255,255,0.75)',&#10;                    fontFamily: 'JetBrains Mono, Consolas, monospace'&#10;                }}&gt;GET PATH&lt;/Text&gt;&#10;                &lt;Text style={{ fontSize: 32, fontWeight: 'bold', color: '#FFFFFF', lineHeight: 1.25 }}&gt;get 流程&lt;/Text&gt;&#10;                &lt;Box style={{ width: 56, height: 4, borderRadius: 2, background: 'rgba(255,255,255,0.85)' }} /&gt;&#10;                &lt;Text style={{ fontSize: 18, color: 'rgba(255,255,255,0.95)', lineHeight: 1.6 }}&gt;&#10;                    两步就够：先把桶定位出来，再在桶内找节点。&#10;                &lt;/Text&gt;&#10;            &lt;/Box&gt;&#10;&#10;            &lt;Box style={{ flexDirection: 'column', gap: 10 }}&gt;&#10;                &lt;Text style={{ fontSize: 17, color: 'rgba(255,255,255,0.92)', lineHeight: 1.5 }}&gt;&#10;                    与 put 共用同一套桶索引计算，所以读和写走到同一个桶。&#10;                &lt;/Text&gt;&#10;                &lt;Text style={{&#10;                    fontSize: 13,&#10;                    color: 'rgba(255,255,255,0.62)',&#10;                    fontFamily: 'JetBrains Mono, Consolas, monospace'&#10;                }}&gt;get(key) → getNode(hash(key), key)&lt;/Text&gt;&#10;            &lt;/Box&gt;&#10;        &lt;/Box&gt;&#10;&#10;        &lt;Box style={{ flex: 1, height: 540, flexDirection: 'column', justifyContent: 'space-between' }}&gt;&#10;            &lt;Box style={{&#10;                height: 58,&#10;                padding: '0 20px',&#10;                borderRadius: 12,&#10;                background: 'linear-gradient(160deg, #0F172A 0%, #1E293B 100%)',&#10;                flexDirection: 'row',&#10;                alignItems: 'center',&#10;                justifyContent: 'space-between'&#10;            }}&gt;&#10;                &lt;Text style={{&#10;                    fontSize: 17,&#10;                    color: '#06B6D4',&#10;                    fontFamily: 'JetBrains Mono, Consolas, monospace'&#10;                }}&gt;get(key)  →  getNode(hash(key), key)&lt;/Text&gt;&#10;                &lt;Text style={{ fontSize: 15, color: '#94A3B8' }}&gt;null 键在入口就被分流&lt;/Text&gt;&#10;            &lt;/Box&gt;&#10;&#10;            &lt;svg width={768} height={26} viewBox='0 0 768 26'&gt;&#10;                &lt;line x1='376' y1='0' x2='376' y2='8' stroke='#2563EB' strokeWidth='2.5' opacity='0.6' /&gt;&#10;                &lt;line x1='180' y1='8' x2='588' y2='8' stroke='#2563EB' strokeWidth='2.5' opacity='0.6' /&gt;&#10;                &lt;line x1='180' y1='8' x2='180' y2='16' stroke='#2563EB' strokeWidth='2.5' opacity='0.6' /&gt;&#10;                &lt;polygon points='180,26 174,14 186,14' fill='#2563EB' opacity='0.8' /&gt;&#10;                &lt;line x1='588' y1='8' x2='588' y2='16' stroke='#2563EB' strokeWidth='2.5' opacity='0.6' /&gt;&#10;                &lt;polygon points='588,26 582,14 594,14' fill='#2563EB' opacity='0.8' /&gt;&#10;            &lt;/svg&gt;&#10;&#10;            &lt;Box style={{ flexDirection: 'row', gap: 20 }}&gt;&#10;                &lt;Box style={{&#10;                    flex: 1,&#10;                    height: 112,&#10;                    padding: '14px 20px',&#10;                    borderRadius: 12,&#10;                    borderLeft: '4px solid #2563EB',&#10;                    background: '#F8FAFC',&#10;                    flexDirection: 'column',&#10;                    gap: 6&#10;                }}&gt;&#10;                    &lt;Text style={{ fontSize: 19, fontWeight: 'bold', color: '#2563EB' }}&gt;key 为 null&lt;/Text&gt;&#10;                    &lt;Text style={{ fontSize: 17, color: '#475569', lineHeight: 1.5 }}&gt;&#10;                        直接取 0 号桶，不做扰动计算，也不参与桶下标运算。&#10;                    &lt;/Text&gt;&#10;                &lt;/Box&gt;&#10;                &lt;Box style={{&#10;                    flex: 1,&#10;                    height: 112,&#10;                    padding: '14px 20px',&#10;                    borderRadius: 12,&#10;                    borderLeft: '4px solid #06B6D4',&#10;                    background: '#F8FAFC',&#10;                    flexDirection: 'column',&#10;                    gap: 6&#10;                }}&gt;&#10;                    &lt;Text style={{ fontSize: 19, fontWeight: 'bold', color: '#0891B2' }}&gt;key 不为 null&lt;/Text&gt;&#10;                    &lt;Text style={{ fontSize: 17, color: '#475569', lineHeight: 1.5 }}&gt;&#10;                        按扰动函数算出 hash，再与 length - 1 做与运算，定位到目标桶。&#10;                    &lt;/Text&gt;&#10;                &lt;/Box&gt;&#10;            &lt;/Box&gt;&#10;&#10;            &lt;svg width={768} height={26} viewBox='0 0 768 26'&gt;&#10;                &lt;line x1='180' y1='0' x2='180' y2='8' stroke='#F59E0B' strokeWidth='2.5' opacity='0.6' /&gt;&#10;                &lt;line x1='588' y1='0' x2='588' y2='8' stroke='#F59E0B' strokeWidth='2.5' opacity='0.6' /&gt;&#10;                &lt;line x1='180' y1='8' x2='588' y2='8' stroke='#F59E0B' strokeWidth='2.5' opacity='0.6' /&gt;&#10;                &lt;line x1='376' y1='8' x2='376' y2='16' stroke='#F59E0B' strokeWidth='2.5' opacity='0.6' /&gt;&#10;                &lt;polygon points='376,26 370,14 382,14' fill='#F59E0B' opacity='0.85' /&gt;&#10;            &lt;/svg&gt;&#10;&#10;            &lt;Box style={{&#10;                height: 70,&#10;                padding: '0 20px',&#10;                borderRadius: 12,&#10;                border: '1px solid #F59E0B',&#10;                background: 'rgba(245,158,11,0.10)',&#10;                flexDirection: 'row',&#10;                alignItems: 'center',&#10;                justifyContent: 'space-between'&#10;            }}&gt;&#10;                &lt;Text style={{ fontSize: 19, fontWeight: 'bold', color: '#B45309' }}&gt;在桶内查找节点&lt;/Text&gt;&#10;                &lt;Text style={{ fontSize: 17, color: '#92400E' }}&gt;&#10;                    桶内是链表就顺着链表找，是红黑树就按树找——代价由结构决定。&#10;                &lt;/Text&gt;&#10;            &lt;/Box&gt;&#10;&#10;            &lt;Box style={{ flexDirection: 'row', gap: 20 }}&gt;&#10;                &lt;Box style={{ flex: 1, padding: '12px 20px', borderRadius: 12, background: 'rgba(37,99,235,0.07)' }}&gt;&#10;                    &lt;Text style={{ fontSize: 18, fontWeight: 'bold', color: '#2563EB' }}&gt;查询复杂度对照&lt;/Text&gt;&#10;                    &lt;Text style={{ fontSize: 16, color: '#475569', lineHeight: 1.5, marginTop: 6 }}&gt;&#10;                        哈希表平均 O(1)，桶内链表最坏 O(n)，树化后桶内是 O(logn)。&#10;                    &lt;/Text&gt;&#10;                &lt;/Box&gt;&#10;                &lt;Box style={{ flex: 1, padding: '12px 20px', borderRadius: 12, background: 'rgba(6,182,212,0.09)' }}&gt;&#10;                    &lt;Text style={{ fontSize: 18, fontWeight: 'bold', color: '#0891B2' }}&gt;与 put 的关系&lt;/Text&gt;&#10;                    &lt;Text style={{ fontSize: 16, color: '#475569', lineHeight: 1.5, marginTop: 6 }}&gt;&#10;                        插入前也要按同样的路径找一遍，命中就更新，没命中才新建节点。&#10;                    &lt;/Text&gt;&#10;                &lt;/Box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13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34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get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流程：</a:t>
            </a:r>
            <a:r>
              <a:rPr lang="en-US" sz="2550" b="1" spc="38">
                <a:solidFill>
                  <a:srgbClr val="0F172A"/>
                </a:solidFill>
                <a:latin typeface="思源黑体"/>
                <a:ea typeface="思源黑体"/>
              </a:rPr>
              <a:t xml:space="preserve">null </a:t>
            </a: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键与桶内查找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125075" y="590550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知识点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06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85800" y="1143000"/>
            <a:ext cx="3238500" cy="514350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33450" y="14478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75000"/>
                  </a:srgbClr>
                </a:solidFill>
                <a:latin typeface="JetBrains Mono"/>
                <a:ea typeface="JetBrains Mono"/>
              </a:rPr>
              <a:t>GET PATH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33450" y="1762125"/>
            <a:ext cx="27432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400" b="1">
                <a:solidFill>
                  <a:srgbClr val="FFFFFF"/>
                </a:solidFill>
                <a:latin typeface="思源黑体"/>
                <a:ea typeface="思源黑体"/>
              </a:rPr>
              <a:t xml:space="preserve">get </a:t>
            </a:r>
            <a:r>
              <a:rPr lang="zh-CN" sz="2400" b="1">
                <a:solidFill>
                  <a:srgbClr val="FFFFFF"/>
                </a:solidFill>
                <a:latin typeface="思源黑体"/>
                <a:ea typeface="思源黑体"/>
              </a:rPr>
              <a:t>流程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933450" y="2371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33450" y="2562225"/>
            <a:ext cx="2743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两步就够：先把桶定位出来，再在桶内找节点。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33450" y="5143500"/>
            <a:ext cx="2743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与</a:t>
            </a:r>
            <a:r>
              <a:rPr lang="en-US" sz="12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275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共用同一套桶索引计算，所以读和写走到同一个桶。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33450" y="5829300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62000"/>
                  </a:srgbClr>
                </a:solidFill>
                <a:latin typeface="JetBrains Mono"/>
                <a:ea typeface="JetBrains Mono"/>
              </a:rPr>
              <a:t>get(key) → getNode(hash(key), key)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191000" y="1143000"/>
            <a:ext cx="7315200" cy="552450"/>
          </a:xfrm>
          <a:prstGeom prst="roundRect">
            <a:avLst>
              <a:gd name="adj" fmla="val 2069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381500" y="1323975"/>
            <a:ext cx="3209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6B6D4"/>
                </a:solidFill>
                <a:latin typeface="JetBrains Mono"/>
                <a:ea typeface="JetBrains Mono"/>
              </a:rPr>
              <a:t>get(key)  →  getNode(hash(key), key)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877425" y="1333500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 xml:space="preserve">null </a:t>
            </a: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键在入口就被分流</a:t>
            </a:r>
            <a:endParaRPr/>
          </a:p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91000" y="1962150"/>
            <a:ext cx="7315200" cy="247650"/>
          </a:xfrm>
          <a:prstGeom prst="rect">
            <a:avLst/>
          </a:prstGeom>
          <a:ln/>
        </p:spPr>
      </p:pic>
      <p:sp>
        <p:nvSpPr>
          <p:cNvPr id="132" name=""/>
          <p:cNvSpPr/>
          <p:nvPr/>
        </p:nvSpPr>
        <p:spPr>
          <a:xfrm rot="0" flipH="0" flipV="0">
            <a:off x="4229100" y="2466975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4229100" y="2466975"/>
            <a:ext cx="3562350" cy="1066800"/>
          </a:xfrm>
          <a:custGeom>
            <a:pathLst>
              <a:path w="374" h="11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4"/>
                </a:lnTo>
                <a:cubicBezTo>
                  <a:pt x="4" y="108"/>
                  <a:pt x="7" y="111"/>
                  <a:pt x="10" y="112"/>
                </a:cubicBezTo>
                <a:cubicBezTo>
                  <a:pt x="4" y="111"/>
                  <a:pt x="0" y="106"/>
                  <a:pt x="0" y="10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19600" y="2600325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key </a:t>
            </a: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为</a:t>
            </a: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 null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419600" y="2876550"/>
            <a:ext cx="3143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直接取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号桶，不做扰动计算，也不参与桶下标运算。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981950" y="2466975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7981950" y="2466975"/>
            <a:ext cx="3562350" cy="1066800"/>
          </a:xfrm>
          <a:custGeom>
            <a:pathLst>
              <a:path w="374" h="11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4"/>
                </a:lnTo>
                <a:cubicBezTo>
                  <a:pt x="4" y="108"/>
                  <a:pt x="7" y="111"/>
                  <a:pt x="10" y="112"/>
                </a:cubicBezTo>
                <a:cubicBezTo>
                  <a:pt x="4" y="111"/>
                  <a:pt x="0" y="106"/>
                  <a:pt x="0" y="10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172450" y="2600325"/>
            <a:ext cx="3143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891B2"/>
                </a:solidFill>
                <a:latin typeface="思源黑体"/>
                <a:ea typeface="思源黑体"/>
              </a:rPr>
              <a:t xml:space="preserve">key </a:t>
            </a:r>
            <a:r>
              <a:rPr lang="zh-CN" sz="1425" b="1">
                <a:solidFill>
                  <a:srgbClr val="0891B2"/>
                </a:solidFill>
                <a:latin typeface="思源黑体"/>
                <a:ea typeface="思源黑体"/>
              </a:rPr>
              <a:t>不为</a:t>
            </a:r>
            <a:r>
              <a:rPr lang="en-US" sz="1425" b="1">
                <a:solidFill>
                  <a:srgbClr val="0891B2"/>
                </a:solidFill>
                <a:latin typeface="思源黑体"/>
                <a:ea typeface="思源黑体"/>
              </a:rPr>
              <a:t xml:space="preserve"> null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172450" y="2876550"/>
            <a:ext cx="3143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按扰动函数算出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hash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，再与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length - 1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做与运算，定位到目标桶。</a:t>
            </a:r>
            <a:endParaRPr/>
          </a:p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91000" y="3800475"/>
            <a:ext cx="7315200" cy="247650"/>
          </a:xfrm>
          <a:prstGeom prst="rect">
            <a:avLst/>
          </a:prstGeom>
          <a:ln/>
        </p:spPr>
      </p:pic>
      <p:sp>
        <p:nvSpPr>
          <p:cNvPr id="141" name=""/>
          <p:cNvSpPr/>
          <p:nvPr/>
        </p:nvSpPr>
        <p:spPr>
          <a:xfrm rot="0" flipH="0" flipV="0">
            <a:off x="4191000" y="4305300"/>
            <a:ext cx="7315200" cy="666750"/>
          </a:xfrm>
          <a:prstGeom prst="roundRect">
            <a:avLst>
              <a:gd name="adj" fmla="val 1714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381500" y="453390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在桶内查找节点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429375" y="4543425"/>
            <a:ext cx="4886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2400E"/>
                </a:solidFill>
                <a:latin typeface="思源黑体"/>
                <a:ea typeface="思源黑体"/>
              </a:rPr>
              <a:t>桶内是链表就顺着链表找，是红黑树就按树找——代价由结构决定。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4191000" y="5238750"/>
            <a:ext cx="3562350" cy="1047750"/>
          </a:xfrm>
          <a:prstGeom prst="roundRect">
            <a:avLst>
              <a:gd name="adj" fmla="val 10909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381500" y="5353050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查询复杂度对照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381500" y="5619750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哈希表平均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 xml:space="preserve"> O(1)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，桶内链表最坏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 xml:space="preserve"> O(n)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，树化后桶内是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 xml:space="preserve"> O(logn)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943850" y="5238750"/>
            <a:ext cx="3562350" cy="1047750"/>
          </a:xfrm>
          <a:prstGeom prst="roundRect">
            <a:avLst>
              <a:gd name="adj" fmla="val 10909"/>
            </a:avLst>
          </a:prstGeom>
          <a:solidFill>
            <a:srgbClr val="06B6D4">
              <a:alpha val="9000"/>
            </a:srgbClr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134350" y="5353050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91B2"/>
                </a:solidFill>
                <a:latin typeface="思源黑体"/>
                <a:ea typeface="思源黑体"/>
              </a:rPr>
              <a:t>与</a:t>
            </a:r>
            <a:r>
              <a:rPr lang="en-US" sz="1350" b="1">
                <a:solidFill>
                  <a:srgbClr val="0891B2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350" b="1">
                <a:solidFill>
                  <a:srgbClr val="0891B2"/>
                </a:solidFill>
                <a:latin typeface="思源黑体"/>
                <a:ea typeface="思源黑体"/>
              </a:rPr>
              <a:t>的关系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134350" y="5619750"/>
            <a:ext cx="3181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插入前也要按同样的路径找一遍，命中就更新，没命中才新建节点。</a:t>
            </a:r>
            <a:endParaRPr/>
          </a:p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3" name="" descr="&lt;Slide style={{&#13;&#10;    width: 1280,&#13;&#10;    height: 720,&#13;&#10;    padding: 0,&#13;&#10;    position: 'relative',&#13;&#10;    overflow: 'hidden',&#13;&#10;    flexDirection: 'row',&#13;&#10;    alignItems: 'center',&#13;&#10;    background: 'linear-gradient(135deg, #2563EB 0%, #06B6D4 100%)',&#13;&#10;    fontFamily: '思源黑体, Microsoft YaHei, sans-serif'&#13;&#10;}}&gt;&#13;&#10;    &lt;Box style={{ position: 'absolute', top: 0, left: 0, width: 1280, height: 720, opacity: 0.5 }}&gt;&#13;&#10;        &lt;svg width={1280} height={720} viewBox='0 0 1280 720'&gt;&#13;&#10;            &lt;line x1='0' y1='120' x2='1280' y2='120' stroke='rgba(255,255,255,0.16)' strokeWidth='1' /&gt;&#13;&#10;            &lt;line x1='0' y1='360' x2='1280' y2='360' stroke='rgba(255,255,255,0.16)' strokeWidth='1' /&gt;&#13;&#10;            &lt;line x1='0' y1='600' x2='1280' y2='600' stroke='rgba(255,255,255,0.16)' strokeWidth='1' /&gt;&#13;&#10;            &lt;rect x='760' y='140' width='132' height='52' rx='10' fill='rgba(255,255,255,0.10)' stroke='rgba(255,255,255,0.35)' strokeWidth='1.5' /&gt;&#13;&#10;            &lt;rect x='760' y='212' width='132' height='52' rx='10' fill='rgba(255,255,255,0.10)' stroke='rgba(255,255,255,0.35)' strokeWidth='1.5' /&gt;&#13;&#10;            &lt;rect x='760' y='284' width='132' height='52' rx='10' fill='rgba(255,255,255,0.26)' stroke='#FFFFFF' strokeWidth='2' /&gt;&#13;&#10;            &lt;rect x='760' y='356' width='132' height='52' rx='10' fill='rgba(255,255,255,0.10)' stroke='rgba(255,255,255,0.35)' strokeWidth='1.5' /&gt;&#13;&#10;            &lt;rect x='760' y='428' width='132' height='52' rx='10' fill='rgba(255,255,255,0.10)' stroke='rgba(255,255,255,0.35)' strokeWidth='1.5' /&gt;&#13;&#10;            &lt;rect x='760' y='500' width='132' height='52' rx='10' fill='rgba(255,255,255,0.10)' stroke='rgba(255,255,255,0.35)' strokeWidth='1.5' /&gt;&#13;&#10;            &lt;line x1='892' y1='310' x2='944' y2='310' stroke='#FFFFFF' strokeWidth='2.5' /&gt;&#13;&#10;            &lt;polygon points='950,310 938,303 938,317' fill='#FFFFFF' /&gt;&#13;&#10;            &lt;rect x='950' y='284' width='118' height='52' rx='10' fill='rgba(255,255,255,0.30)' stroke='#FFFFFF' strokeWidth='2' /&gt;&#13;&#10;            &lt;line x1='1068' y1='310' x2='1120' y2='310' stroke='rgba(255,255,255,0.7)' strokeWidth='2' /&gt;&#13;&#10;            &lt;rect x='1120' y='284' width='118' height='52' rx='10' fill='rgba(255,255,255,0.14)' stroke='rgba(255,255,255,0.65)' strokeWidth='1.5' /&gt;&#13;&#10;            &lt;circle cx='1256' cy='310' r='9' fill='none' stroke='rgba(255,255,255,0.7)' strokeWidth='2' /&gt;&#13;&#10;        &lt;/svg&gt;&#13;&#10;    &lt;/Box&gt;&#13;&#10;&#13;&#10;    &lt;Box style={{&#13;&#10;        position: 'absolute',&#13;&#10;        right: 60,&#13;&#10;        top: 40,&#13;&#10;        flexDirection: 'column',&#13;&#10;        alignItems: 'flex-end'&#13;&#10;    }}&gt;&#13;&#10;        &lt;Text style={{&#13;&#10;            fontSize: 240,&#13;&#10;            fontWeight: 'bold',&#13;&#10;            lineHeight: 1,&#13;&#10;            letterSpacing: -12,&#13;&#10;            color: 'rgba(255,255,255,0.22)',&#13;&#10;            fontFamily: 'JetBrains Mono, Consolas, monospace'&#13;&#10;        }}&gt;03&lt;/Text&gt;&#13;&#10;    &lt;/Box&gt;&#13;&#10;&#13;&#10;    &lt;Box style={{ padding: '0 0 0 96px', flexDirection: 'column', gap: 26, position: 'relative', zIndex: 1 }}&gt;&#13;&#10;        &lt;Text style={{&#13;&#10;            fontSize: 18,&#13;&#10;            letterSpacing: 4,&#13;&#10;            color: 'rgba(255,255,255,0.85)',&#13;&#10;            fontFamily: 'JetBrains Mono, Consolas, monospace'&#13;&#10;        }}&gt;CHAPTER 03 / 04 · P14–P15&lt;/Text&gt;&#13;&#10;&#13;&#10;        &lt;Text style={{ fontSize: 64, fontWeight: 'bold', lineHeight: 1.1, letterSpacing: 2, color: '#FFFFFF' }}&gt;&#13;&#10;            三、实践&#13;&#10;        &lt;/Text&gt;&#13;&#10;&#13;&#10;        &lt;Box style={{ width: 120, height: 6, borderRadius: 3, background: 'rgba(255,255,255,0.9)' }} /&gt;&#13;&#10;&#13;&#10;        &lt;Text style={{ fontSize: 24, lineHeight: 1.5, color: 'rgba(255,255,255,0.95)', width: 620 }}&gt;&#13;&#10;            把 put 流程收成四步伪代码，再把「为什么位运算更快」挖到 CPU 那一层。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55" name="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334500" y="381000"/>
            <a:ext cx="22860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 spc="-900">
                <a:solidFill>
                  <a:srgbClr val="FFFFFF">
                    <a:alpha val="22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14400" y="210502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FFFFFF">
                    <a:alpha val="85000"/>
                  </a:srgbClr>
                </a:solidFill>
                <a:latin typeface="JetBrains Mono"/>
                <a:ea typeface="JetBrains Mono"/>
              </a:rPr>
              <a:t>CHAPTER 03 / 04 · P14–P15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14400" y="2562225"/>
            <a:ext cx="59055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三、实践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914400" y="36195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14400" y="3924300"/>
            <a:ext cx="5905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把</a:t>
            </a:r>
            <a:r>
              <a:rPr lang="en-US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流程收成四步伪代码，再把「为什么位运算更快」挖到</a:t>
            </a:r>
            <a:r>
              <a:rPr lang="en-US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 CPU </a:t>
            </a: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那一层。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1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为什么位运算等价取模还更快&lt;/Text&gt;&#10;        &lt;Text style={{ fontSize: 14, color: '#64748B', letterSpacing: 1 }}&gt;第 03 章 / 实践 02&lt;/Text&gt;&#10;    &lt;/Box&gt;&#10;&#10;    &lt;Box style={{ height: 540, padding: '0 72px', flexDirection: 'row', gap: 30 }}&gt;&#10;        &lt;Box style={{ width: 600, height: 540, flexDirection: 'column', justifyContent: 'center', gap: 20 }}&gt;&#10;            &lt;Text style={{ fontSize: 18, color: '#0F172A', lineHeight: 1.5, fontWeight: 'bold' }}&gt;&#10;                n 固定为 2 的幂，n - 1 就是低 k 位全 1 的掩码&#10;            &lt;/Text&gt;&#10;&#10;            &lt;Box style={{ flexDirection: 'row', alignItems: 'center', gap: 14 }}&gt;&#10;                &lt;Text style={{ width: 118, fontSize: 15, color: '#0F172A', fontFamily: 'JetBrains Mono, Consolas, monospace' }}&gt;n = 8&lt;/Text&gt;&#10;                &lt;Box style={{ flexDirection: 'row', gap: 6 }}&gt;&#10;                    {['0', '0', '0', '0', '1', '0', '0', '0'].map((bit, i) =&gt; (&#10;                        &lt;Box key={i} style={{&#10;                            width: 48,&#10;                            height: 48,&#10;                            borderRadius: 6,&#10;                            justifyContent: 'center',&#10;                            alignItems: 'center',&#10;                            background: bit === '1' ? '#2563EB' : '#F1F5F9'&#10;                        }}&gt;&#10;                            &lt;Text style={{&#10;                                fontSize: 22,&#10;                                fontWeight: 'bold',&#10;                                fontFamily: 'JetBrains Mono, Consolas, monospace',&#10;                                color: bit === '1' ? '#FFFFFF' : '#94A3B8'&#10;                            }}&gt;{bit}&lt;/Text&gt;&#10;                        &lt;/Box&gt;&#10;                    ))}&#10;                &lt;/Box&gt;&#10;            &lt;/Box&gt;&#10;&#10;            &lt;Box style={{ flexDirection: 'row', alignItems: 'center', gap: 14 }}&gt;&#10;                &lt;Text style={{ width: 118, fontSize: 15, color: '#0891B2', fontFamily: 'JetBrains Mono, Consolas, monospace' }}&gt;n - 1 = 7&lt;/Text&gt;&#10;                &lt;Box style={{ flexDirection: 'row', gap: 6 }}&gt;&#10;                    {['0', '0', '0', '0', '0', '1', '1', '1'].map((bit, i) =&gt; (&#10;                        &lt;Box key={i} style={{&#10;                            width: 48,&#10;                            height: 48,&#10;                            borderRadius: 6,&#10;                            justifyContent: 'center',&#10;                            alignItems: 'center',&#10;                            background: bit === '1' ? '#06B6D4' : '#F1F5F9'&#10;                        }}&gt;&#10;                            &lt;Text style={{&#10;                                fontSize: 22,&#10;                                fontWeight: 'bold',&#10;                                fontFamily: 'JetBrains Mono, Consolas, monospace',&#10;                                color: bit === '1' ? '#FFFFFF' : '#94A3B8'&#10;                            }}&gt;{bit}&lt;/Text&gt;&#10;                        &lt;/Box&gt;&#10;                    ))}&#10;                &lt;/Box&gt;&#10;            &lt;/Box&gt;&#10;&#10;            &lt;Box style={{ flexDirection: 'row', alignItems: 'center', gap: 14 }}&gt;&#10;                &lt;Text style={{ width: 118, fontSize: 15, color: '#475569', fontFamily: 'JetBrains Mono, Consolas, monospace' }}&gt;hash&lt;/Text&gt;&#10;                &lt;Box style={{ flexDirection: 'row', gap: 6 }}&gt;&#10;                    {['1', '0', '1', '1', '0', '1', '1', '0'].map((bit, i) =&gt; (&#10;                        &lt;Box key={i} style={{&#10;                            width: 48,&#10;                            height: 48,&#10;                            borderRadius: 6,&#10;                            justifyContent: 'center',&#10;                            alignItems: 'center',&#10;                            background: bit === '1' ? '#0F172A' : '#F1F5F9'&#10;                        }}&gt;&#10;                            &lt;Text style={{&#10;                                fontSize: 22,&#10;                                fontWeight: 'bold',&#10;                                fontFamily: 'JetBrains Mono, Consolas, monospace',&#10;                                color: bit === '1' ? '#FFFFFF' : '#94A3B8'&#10;                            }}&gt;{bit}&lt;/Text&gt;&#10;                        &lt;/Box&gt;&#10;                    ))}&#10;                &lt;/Box&gt;&#10;            &lt;/Box&gt;&#10;&#10;            &lt;Box style={{ flexDirection: 'row', alignItems: 'center', gap: 14 }}&gt;&#10;                &lt;Text style={{ width: 118, fontSize: 15, color: '#B45309', fontFamily: 'JetBrains Mono, Consolas, monospace' }}&gt;hash &amp;amp; 7&lt;/Text&gt;&#10;                &lt;Box style={{ flexDirection: 'row', gap: 6 }}&gt;&#10;                    {['0', '0', '0', '0', '0', '1', '1', '0'].map((bit, i) =&gt; (&#10;                        &lt;Box key={i} style={{&#10;                            width: 48,&#10;                            height: 48,&#10;                            borderRadius: 6,&#10;                            justifyContent: 'center',&#10;                            alignItems: 'center',&#10;                            background: bit === '1' ? '#F59E0B' : '#F1F5F9',&#10;                            border: i &gt; 4 ? '2px solid #F59E0B' : 'none'&#10;                        }}&gt;&#10;                            &lt;Text style={{&#10;                                fontSize: 22,&#10;                                fontWeight: 'bold',&#10;                                fontFamily: 'JetBrains Mono, Consolas, monospace',&#10;                                color: bit === '1' ? '#FFFFFF' : '#94A3B8'&#10;                            }}&gt;{bit}&lt;/Text&gt;&#10;                        &lt;/Box&gt;&#10;                    ))}&#10;                &lt;/Box&gt;&#10;            &lt;/Box&gt;&#10;&#10;            &lt;Box style={{ flexDirection: 'row', alignItems: 'center', gap: 14 }}&gt;&#10;                &lt;Box style={{ width: 118 }} /&gt;&#10;                &lt;svg width={426} height={30} viewBox='0 0 426 30'&gt;&#10;                    &lt;line x1='270' y1='4' x2='270' y2='18' stroke='#F59E0B' strokeWidth='2.5' /&gt;&#10;                    &lt;line x1='270' y1='18' x2='420' y2='18' stroke='#F59E0B' strokeWidth='2.5' /&gt;&#10;                    &lt;line x1='420' y1='4' x2='420' y2='18' stroke='#F59E0B' strokeWidth='2.5' /&gt;&#10;                    &lt;line x1='345' y1='18' x2='345' y2='26' stroke='#F59E0B' strokeWidth='2' opacity='0.7' /&gt;&#10;                &lt;/svg&gt;&#10;            &lt;/Box&gt;&#10;&#10;            &lt;Text style={{ fontSize: 16, color: '#64748B', lineHeight: 1.5 }}&gt;&#10;                与运算只保留低 k 位：0 ~ n-1，正好覆盖 hash % n 的全部取值范围。&#10;            &lt;/Text&gt;&#10;        &lt;/Box&gt;&#10;&#10;        &lt;Box style={{ flex: 1, height: 540, flexDirection: 'column', justifyContent: 'space-between' }}&gt;&#10;            &lt;Box style={{ padding: '14px 20px', borderRadius: 12, background: 'rgba(37,99,235,0.07)' }}&gt;&#10;                &lt;Text style={{ fontSize: 19, fontWeight: 'bold', color: '#2563EB' }}&gt;n 一定是 2 的幂&lt;/Text&gt;&#10;                &lt;Text style={{ fontSize: 17, color: '#475569', lineHeight: 1.5, marginTop: 6 }}&gt;&#10;                    二进制写成只有最高位是 1，其余 k 位全是 0，这就是位运算成立的前提。&#10;                &lt;/Text&gt;&#10;            &lt;/Box&gt;&#10;&#10;            &lt;Box style={{ padding: '14px 20px', borderRadius: 12, borderLeft: '4px solid #06B6D4', background: '#F8FAFC' }}&gt;&#10;                &lt;Text style={{ fontSize: 19, fontWeight: 'bold', color: '#0891B2' }}&gt;n - 1 变成掩码&lt;/Text&gt;&#10;                &lt;Text style={{ fontSize: 17, color: '#475569', lineHeight: 1.5, marginTop: 6 }}&gt;&#10;                    变成 0111… 这样的形式，只有最高位为 0、低 k 位全为 1，与运算刚好把高位全部抹掉。&#10;                &lt;/Text&gt;&#10;            &lt;/Box&gt;&#10;&#10;            &lt;Box style={{ padding: '14px 20px', borderRadius: 12, borderLeft: '4px solid #2563EB', background: '#F8FAFC' }}&gt;&#10;                &lt;Text style={{ fontSize: 19, fontWeight: 'bold', color: '#2563EB' }}&gt;取值范围完全一致&lt;/Text&gt;&#10;                &lt;Text style={{ fontSize: 17, color: '#475569', lineHeight: 1.5, marginTop: 6 }}&gt;&#10;                    hash % n 的取值是 0 ~ n-1，位运算保留的低 k 位正好落在同一区间，结果等价。&#10;                &lt;/Text&gt;&#10;            &lt;/Box&gt;&#10;&#10;            &lt;Box style={{ padding: '14px 20px', borderRadius: 12, borderLeft: '4px solid #F59E0B', background: 'rgba(245,158,11,0.08)' }}&gt;&#10;                &lt;Text style={{ fontSize: 19, fontWeight: 'bold', color: '#B45309' }}&gt;CPU 层面差在哪&lt;/Text&gt;&#10;                &lt;Text style={{ fontSize: 17, color: '#475569', lineHeight: 1.5, marginTop: 6 }}&gt;&#10;                    取模底层是除法运算，开销更大、时钟周期更长；与运算是单周期完成的逻辑运算。&#10;                &lt;/Text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1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276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为什么位运算等价取模还更快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267950" y="5905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03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实践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02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1790700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n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固定为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的幂，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n - 1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就是低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位全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 xml:space="preserve"> 1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的掩码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24384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JetBrains Mono"/>
                <a:ea typeface="JetBrains Mono"/>
              </a:rPr>
              <a:t>n = 8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194310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11455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245745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262890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297180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14325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348615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65760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400050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17195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51485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68630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02920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20065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543550" y="22955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715000" y="2400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30861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891B2"/>
                </a:solidFill>
                <a:latin typeface="JetBrains Mono"/>
                <a:ea typeface="JetBrains Mono"/>
              </a:rPr>
              <a:t>n - 1 = 7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194310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11455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245745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262890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297180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14325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348615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65760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00050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17195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51485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68630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02920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20065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543550" y="29432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715000" y="3048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75569"/>
                </a:solidFill>
                <a:latin typeface="JetBrains Mono"/>
                <a:ea typeface="JetBrains Mono"/>
              </a:rPr>
              <a:t>hash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194310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11455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245745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62890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297180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14325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48615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65760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00050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17195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51485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68630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02920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20065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543550" y="35909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0" y="3695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85800" y="43815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45309"/>
                </a:solidFill>
                <a:latin typeface="JetBrains Mono"/>
                <a:ea typeface="JetBrains Mono"/>
              </a:rPr>
              <a:t>hash &amp; 7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194310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211455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245745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262890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297180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14325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48615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65760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00050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17195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51485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68630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02920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20065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5543550" y="4238625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715000" y="43434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4A3B8"/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pic>
        <p:nvPicPr>
          <p:cNvPr id="2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943100" y="4886325"/>
            <a:ext cx="4057650" cy="285750"/>
          </a:xfrm>
          <a:prstGeom prst="rect">
            <a:avLst/>
          </a:prstGeom>
          <a:ln/>
        </p:spPr>
      </p:pic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5800" y="5362575"/>
            <a:ext cx="5715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与运算只保留低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位：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0 ~ n-1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，正好覆盖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 xml:space="preserve"> hash % n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的全部取值范围。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686550" y="1143000"/>
            <a:ext cx="4819650" cy="1133475"/>
          </a:xfrm>
          <a:prstGeom prst="roundRect">
            <a:avLst>
              <a:gd name="adj" fmla="val 10084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77050" y="1276350"/>
            <a:ext cx="4438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n </a:t>
            </a: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一定是</a:t>
            </a: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的幂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77050" y="1552575"/>
            <a:ext cx="4438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二进制写成只有最高位是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，其余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位全是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，这就是位运算成立的前提。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724650" y="2476500"/>
            <a:ext cx="481965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724650" y="2476500"/>
            <a:ext cx="4819650" cy="1133475"/>
          </a:xfrm>
          <a:custGeom>
            <a:pathLst>
              <a:path w="506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915150" y="2609850"/>
            <a:ext cx="440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891B2"/>
                </a:solidFill>
                <a:latin typeface="思源黑体"/>
                <a:ea typeface="思源黑体"/>
              </a:rPr>
              <a:t xml:space="preserve">n - 1 </a:t>
            </a:r>
            <a:r>
              <a:rPr lang="zh-CN" sz="1425" b="1">
                <a:solidFill>
                  <a:srgbClr val="0891B2"/>
                </a:solidFill>
                <a:latin typeface="思源黑体"/>
                <a:ea typeface="思源黑体"/>
              </a:rPr>
              <a:t>变成掩码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915150" y="2886075"/>
            <a:ext cx="4400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变成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0111…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这样的形式，只有最高位为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、低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位全为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1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，与运算刚好把高位全部抹掉。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724650" y="3819525"/>
            <a:ext cx="481965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724650" y="3819525"/>
            <a:ext cx="4819650" cy="1133475"/>
          </a:xfrm>
          <a:custGeom>
            <a:pathLst>
              <a:path w="506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915150" y="3952875"/>
            <a:ext cx="440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取值范围完全一致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915150" y="4229100"/>
            <a:ext cx="4400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hash % n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的取值是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0 ~ n-1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，位运算保留的低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位正好落在同一区间，结果等价。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724650" y="5153025"/>
            <a:ext cx="4819650" cy="1133475"/>
          </a:xfrm>
          <a:prstGeom prst="roundRect">
            <a:avLst>
              <a:gd name="adj" fmla="val 10084"/>
            </a:avLst>
          </a:prstGeom>
          <a:solidFill>
            <a:srgbClr val="F59E0B">
              <a:alpha val="8000"/>
            </a:srgbClr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724650" y="5153025"/>
            <a:ext cx="4819650" cy="1133475"/>
          </a:xfrm>
          <a:custGeom>
            <a:pathLst>
              <a:path w="506" h="11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1"/>
                </a:lnTo>
                <a:cubicBezTo>
                  <a:pt x="4" y="115"/>
                  <a:pt x="7" y="118"/>
                  <a:pt x="10" y="119"/>
                </a:cubicBezTo>
                <a:cubicBezTo>
                  <a:pt x="4" y="118"/>
                  <a:pt x="0" y="113"/>
                  <a:pt x="0" y="10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915150" y="5286375"/>
            <a:ext cx="440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B45309"/>
                </a:solidFill>
                <a:latin typeface="思源黑体"/>
                <a:ea typeface="思源黑体"/>
              </a:rPr>
              <a:t xml:space="preserve">CPU </a:t>
            </a:r>
            <a:r>
              <a:rPr lang="zh-CN" sz="1425" b="1">
                <a:solidFill>
                  <a:srgbClr val="B45309"/>
                </a:solidFill>
                <a:latin typeface="思源黑体"/>
                <a:ea typeface="思源黑体"/>
              </a:rPr>
              <a:t>层面差在哪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915150" y="5562600"/>
            <a:ext cx="4400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取模底层是除法运算，开销更大、时钟周期更长；与运算是单周期完成的逻辑运算。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54" name="" descr="&lt;Slide style={{&#13;&#10;    width: 1280,&#13;&#10;    height: 720,&#13;&#10;    padding: 0,&#13;&#10;    position: 'relative',&#13;&#10;    overflow: 'hidden',&#13;&#10;    flexDirection: 'row',&#13;&#10;    alignItems: 'center',&#13;&#10;    background: 'linear-gradient(135deg, #2563EB 0%, #06B6D4 100%)',&#13;&#10;    fontFamily: '思源黑体, Microsoft YaHei, sans-serif'&#13;&#10;}}&gt;&#13;&#10;    &lt;Box style={{ position: 'absolute', top: 0, left: 0, width: 1280, height: 720, opacity: 0.5 }}&gt;&#13;&#10;        &lt;svg width={1280} height={720} viewBox='0 0 1280 720'&gt;&#13;&#10;            &lt;line x1='0' y1='120' x2='1280' y2='120' stroke='rgba(255,255,255,0.16)' strokeWidth='1' /&gt;&#13;&#10;            &lt;line x1='0' y1='360' x2='1280' y2='360' stroke='rgba(255,255,255,0.16)' strokeWidth='1' /&gt;&#13;&#10;            &lt;line x1='0' y1='600' x2='1280' y2='600' stroke='rgba(255,255,255,0.16)' strokeWidth='1' /&gt;&#13;&#10;            &lt;rect x='760' y='140' width='132' height='52' rx='10' fill='rgba(255,255,255,0.10)' stroke='rgba(255,255,255,0.35)' strokeWidth='1.5' /&gt;&#13;&#10;            &lt;rect x='760' y='212' width='132' height='52' rx='10' fill='rgba(255,255,255,0.10)' stroke='rgba(255,255,255,0.35)' strokeWidth='1.5' /&gt;&#13;&#10;            &lt;rect x='760' y='284' width='132' height='52' rx='10' fill='rgba(255,255,255,0.26)' stroke='#FFFFFF' strokeWidth='2' /&gt;&#13;&#10;            &lt;rect x='760' y='356' width='132' height='52' rx='10' fill='rgba(255,255,255,0.10)' stroke='rgba(255,255,255,0.35)' strokeWidth='1.5' /&gt;&#13;&#10;            &lt;rect x='760' y='428' width='132' height='52' rx='10' fill='rgba(255,255,255,0.10)' stroke='rgba(255,255,255,0.35)' strokeWidth='1.5' /&gt;&#13;&#10;            &lt;rect x='760' y='500' width='132' height='52' rx='10' fill='rgba(255,255,255,0.10)' stroke='rgba(255,255,255,0.35)' strokeWidth='1.5' /&gt;&#13;&#10;            &lt;line x1='892' y1='310' x2='944' y2='310' stroke='#FFFFFF' strokeWidth='2.5' /&gt;&#13;&#10;            &lt;polygon points='950,310 938,303 938,317' fill='#FFFFFF' /&gt;&#13;&#10;            &lt;rect x='950' y='284' width='118' height='52' rx='10' fill='rgba(255,255,255,0.30)' stroke='#FFFFFF' strokeWidth='2' /&gt;&#13;&#10;            &lt;line x1='1068' y1='310' x2='1120' y2='310' stroke='rgba(255,255,255,0.7)' strokeWidth='2' /&gt;&#13;&#10;            &lt;rect x='1120' y='284' width='118' height='52' rx='10' fill='rgba(255,255,255,0.14)' stroke='rgba(255,255,255,0.65)' strokeWidth='1.5' /&gt;&#13;&#10;            &lt;circle cx='1256' cy='310' r='9' fill='none' stroke='rgba(255,255,255,0.7)' strokeWidth='2' /&gt;&#13;&#10;        &lt;/svg&gt;&#13;&#10;    &lt;/Box&gt;&#13;&#10;&#13;&#10;    &lt;Box style={{&#13;&#10;        position: 'absolute',&#13;&#10;        right: 60,&#13;&#10;        top: 40,&#13;&#10;        flexDirection: 'column',&#13;&#10;        alignItems: 'flex-end'&#13;&#10;    }}&gt;&#13;&#10;        &lt;Text style={{&#13;&#10;            fontSize: 240,&#13;&#10;            fontWeight: 'bold',&#13;&#10;            lineHeight: 1,&#13;&#10;            letterSpacing: -12,&#13;&#10;            color: 'rgba(255,255,255,0.22)',&#13;&#10;            fontFamily: 'JetBrains Mono, Consolas, monospace'&#13;&#10;        }}&gt;04&lt;/Text&gt;&#13;&#10;    &lt;/Box&gt;&#13;&#10;&#13;&#10;    &lt;Box style={{ padding: '0 0 0 96px', flexDirection: 'column', gap: 26, position: 'relative', zIndex: 1 }}&gt;&#13;&#10;        &lt;Text style={{&#13;&#10;            fontSize: 18,&#13;&#10;            letterSpacing: 4,&#13;&#10;            color: 'rgba(255,255,255,0.85)',&#13;&#10;            fontFamily: 'JetBrains Mono, Consolas, monospace'&#13;&#10;        }}&gt;CHAPTER 04 / 04 · P16–P17&lt;/Text&gt;&#13;&#10;&#13;&#10;        &lt;Text style={{ fontSize: 64, fontWeight: 'bold', lineHeight: 1.1, letterSpacing: 2, color: '#FFFFFF' }}&gt;&#13;&#10;            四、问题&#13;&#10;        &lt;/Text&gt;&#13;&#10;&#13;&#10;        &lt;Box style={{ width: 120, height: 6, borderRadius: 3, background: 'rgba(255,255,255,0.9)' }} /&gt;&#13;&#10;&#13;&#10;        &lt;Text style={{ fontSize: 24, lineHeight: 1.5, color: 'rgba(255,255,255,0.95)', width: 620 }}&gt;&#13;&#10;            三个自测问题反向校验：流程、位运算、负载因子，答得上才算真懂。&#13;&#10;        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56" name="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334500" y="381000"/>
            <a:ext cx="22860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 spc="-900">
                <a:solidFill>
                  <a:srgbClr val="FFFFFF">
                    <a:alpha val="22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14400" y="2105025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FFFFFF">
                    <a:alpha val="85000"/>
                  </a:srgbClr>
                </a:solidFill>
                <a:latin typeface="JetBrains Mono"/>
                <a:ea typeface="JetBrains Mono"/>
              </a:rPr>
              <a:t>CHAPTER 04 / 04 · P16–P17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14400" y="2562225"/>
            <a:ext cx="59055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四、问题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914400" y="36195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14400" y="3924300"/>
            <a:ext cx="5905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三个自测问题反向校验：流程、位运算、负载因子，答得上才算真懂。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2" name="" descr="&lt;Slide style={{&#10;    width: 1280,&#10;    height: 720,&#10;    padding: 0,&#10;    flexDirection: 'column',&#10;    background: '#FFFFFF',&#10;    fontFamily: '思源黑体, Microsoft YaHei, sans-serif'&#10;}}&gt;&#10;    &lt;Box style={{&#10;        height: 120,&#10;        padding: '20px 72px 0 72px',&#10;        flexDirection: 'row',&#10;        alignItems: 'center',&#10;        justifyContent: 'space-between'&#10;    }}&gt;&#10;        &lt;Text style={{ fontSize: 34, fontWeight: 'bold', color: '#0F172A', letterSpacing: 0.5 }}&gt;三个自测问题：能答上就是真懂了&lt;/Text&gt;&#10;        &lt;Text style={{ fontSize: 14, color: '#64748B', letterSpacing: 1 }}&gt;第 04 章 / 自测&lt;/Text&gt;&#10;    &lt;/Box&gt;&#10;&#10;    &lt;Box style={{ height: 540, padding: '0 72px', flexDirection: 'row', gap: 28 }}&gt;&#10;        &lt;Box style={{&#10;            width: 340,&#10;            height: 540,&#10;            padding: '32px 26px',&#10;            borderRadius: 16,&#10;            background: 'linear-gradient(135deg, #2563EB 0%, #06B6D4 100%)',&#10;            justifyContent: 'space-between'&#10;        }}&gt;&#10;            &lt;Box style={{ flexDirection: 'column', gap: 16 }}&gt;&#10;                &lt;Text style={{&#10;                    fontSize: 14,&#10;                    letterSpacing: 3,&#10;                    color: 'rgba(255,255,255,0.75)',&#10;                    fontFamily: 'JetBrains Mono, Consolas, monospace'&#10;                }}&gt;SELF CHECK&lt;/Text&gt;&#10;                &lt;Text style={{ fontSize: 32, fontWeight: 'bold', color: '#FFFFFF', lineHeight: 1.25 }}&gt;自测问题&lt;/Text&gt;&#10;                &lt;Box style={{ width: 56, height: 4, borderRadius: 2, background: 'rgba(255,255,255,0.85)' }} /&gt;&#10;                &lt;Text style={{ fontSize: 18, color: 'rgba(255,255,255,0.95)', lineHeight: 1.6 }}&gt;&#10;                    能讲清流程、说清位运算与取模的取舍、说出 0.75 的由来，这一节就算过关。&#10;                &lt;/Text&gt;&#10;            &lt;/Box&gt;&#10;&#10;            &lt;Box style={{ flexDirection: 'column', gap: 10 }}&gt;&#10;                &lt;Text style={{ fontSize: 16, color: 'rgba(255,255,255,0.9)', lineHeight: 1.5 }}&gt;&#10;                    答不上就回翻：P11 put 流程 · P15 位运算 · P08 负载因子。&#10;                &lt;/Text&gt;&#10;                &lt;Text style={{&#10;                    fontSize: 13,&#10;                    color: 'rgba(255,255,255,0.62)',&#10;                    fontFamily: 'JetBrains Mono, Consolas, monospace'&#10;                }}&gt;PUT / BITWISE / LOAD FACTOR&lt;/Text&gt;&#10;            &lt;/Box&gt;&#10;        &lt;/Box&gt;&#10;&#10;        &lt;Box style={{ flex: 1, height: 540, flexDirection: 'column', justifyContent: 'space-between' }}&gt;&#10;            &lt;Box style={{&#10;                padding: '16px 22px',&#10;                borderRadius: 12,&#10;                background: 'rgba(37,99,235,0.07)',&#10;                borderLeft: '4px solid #2563EB',&#10;                flexDirection: 'column',&#10;                gap: 10&#10;            }}&gt;&#10;                &lt;Box style={{ flexDirection: 'row', alignItems: 'center', gap: 16 }}&gt;&#10;                    &lt;Text style={{&#10;                        fontSize: 26,&#10;                        fontWeight: 'bold',&#10;                        color: '#2563EB',&#10;                        fontFamily: 'JetBrains Mono, Consolas, monospace'&#10;                    }}&gt;01&lt;/Text&gt;&#10;                    &lt;Text style={{ fontSize: 22, fontWeight: 'bold', color: '#0F172A' }}&gt;HashMap 的 put 完整流程是什么？&lt;/Text&gt;&#10;                &lt;/Box&gt;&#10;                &lt;Text style={{ fontSize: 18, color: '#475569', lineHeight: 1.5 }}&gt;&#10;                    先判 table 是否为空或长度为 0，懒加载初始化；再算 hash 与桶下标；桶为空直接放，非空则按桶头类型走链表尾插或红黑树；插入后判树化、判扩容。&#10;                &lt;/Text&gt;&#10;                &lt;Box style={{ flexDirection: 'row', gap: 10 }}&gt;&#10;                    &lt;Box style={{ padding: '5px 12px', borderRadius: 999, background: 'rgba(37,99,235,0.12)' }}&gt;&#10;                        &lt;Text style={{ fontSize: 15, color: '#2563EB' }}&gt;懒加载&lt;/Text&gt;&#10;                    &lt;/Box&gt;&#10;                    &lt;Box style={{ padding: '5px 12px', borderRadius: 999, background: 'rgba(37,99,235,0.12)' }}&gt;&#10;                        &lt;Text style={{ fontSize: 15, color: '#2563EB' }}&gt;桶头分叉&lt;/Text&gt;&#10;                    &lt;/Box&gt;&#10;                    &lt;Box style={{ padding: '5px 12px', borderRadius: 999, background: 'rgba(37,99,235,0.12)' }}&gt;&#10;                        &lt;Text style={{ fontSize: 15, color: '#2563EB' }}&gt;判树化&lt;/Text&gt;&#10;                    &lt;/Box&gt;&#10;                    &lt;Box style={{ padding: '5px 12px', borderRadius: 999, background: 'rgba(37,99,235,0.12)' }}&gt;&#10;                        &lt;Text style={{ fontSize: 15, color: '#2563EB' }}&gt;判扩容&lt;/Text&gt;&#10;                    &lt;/Box&gt;&#10;                &lt;/Box&gt;&#10;            &lt;/Box&gt;&#10;&#10;            &lt;Box style={{&#10;                padding: '16px 22px',&#10;                borderRadius: 12,&#10;                background: 'rgba(6,182,212,0.09)',&#10;                borderLeft: '4px solid #06B6D4',&#10;                flexDirection: 'column',&#10;                gap: 10&#10;            }}&gt;&#10;                &lt;Box style={{ flexDirection: 'row', alignItems: 'center', gap: 16 }}&gt;&#10;                    &lt;Text style={{&#10;                        fontSize: 26,&#10;                        fontWeight: 'bold',&#10;                        color: '#06B6D4',&#10;                        fontFamily: 'JetBrains Mono, Consolas, monospace'&#10;                    }}&gt;02&lt;/Text&gt;&#10;                    &lt;Text style={{ fontSize: 22, fontWeight: 'bold', color: '#0F172A' }}&gt;为什么用位运算而不是取模？&lt;/Text&gt;&#10;                &lt;/Box&gt;&#10;                &lt;Text style={{ fontSize: 18, color: '#475569', lineHeight: 1.5 }}&gt;&#10;                    因为 n 是 2 的幂，n-1 就是低 k 位全 1 的掩码，与运算等价于 hash % n 且取值范围一致；取模底层是除法，开销更大、时钟周期更长。&#10;                &lt;/Text&gt;&#10;                &lt;Box style={{ flexDirection: 'row', gap: 10 }}&gt;&#10;                    &lt;Box style={{ padding: '5px 12px', borderRadius: 999, background: 'rgba(6,182,212,0.14)' }}&gt;&#10;                        &lt;Text style={{ fontSize: 15, color: '#0891B2' }}&gt;2 的幂前提&lt;/Text&gt;&#10;                    &lt;/Box&gt;&#10;                    &lt;Box style={{ padding: '5px 12px', borderRadius: 999, background: 'rgba(6,182,212,0.14)' }}&gt;&#10;                        &lt;Text style={{ fontSize: 15, color: '#0891B2' }}&gt;低 k 位掩码&lt;/Text&gt;&#10;                    &lt;/Box&gt;&#10;                    &lt;Box style={{ padding: '5px 12px', borderRadius: 999, background: 'rgba(6,182,212,0.14)' }}&gt;&#10;                        &lt;Text style={{ fontSize: 15, color: '#0891B2' }}&gt;单周期运算&lt;/Text&gt;&#10;                    &lt;/Box&gt;&#10;                &lt;/Box&gt;&#10;            &lt;/Box&gt;&#10;&#10;            &lt;Box style={{&#10;                padding: '16px 22px',&#10;                borderRadius: 12,&#10;                background: 'rgba(245,158,11,0.10)',&#10;                borderLeft: '4px solid #F59E0B',&#10;                flexDirection: 'column',&#10;                gap: 10&#10;            }}&gt;&#10;                &lt;Box style={{ flexDirection: 'row', alignItems: 'center', gap: 16 }}&gt;&#10;                    &lt;Text style={{&#10;                        fontSize: 26,&#10;                        fontWeight: 'bold',&#10;                        color: '#F59E0B',&#10;                        fontFamily: 'JetBrains Mono, Consolas, monospace'&#10;                    }}&gt;03&lt;/Text&gt;&#10;                    &lt;Text style={{ fontSize: 22, fontWeight: 'bold', color: '#0F172A' }}&gt;负载因子为什么是 0.75？&lt;/Text&gt;&#10;                &lt;/Box&gt;&#10;                &lt;Text style={{ fontSize: 18, color: '#475569', lineHeight: 1.5 }}&gt;&#10;                    是空间开销与哈希冲突概率的折中：太小浪费空间，太大冲突频繁、查找效率低；理论依据是泊松分布，hash 均匀时单桶链表达到 8 的概率非常小。&#10;                &lt;/Text&gt;&#10;                &lt;Box style={{ flexDirection: 'row', gap: 10 }}&gt;&#10;                    &lt;Box style={{ padding: '5px 12px', borderRadius: 999, background: 'rgba(245,158,11,0.16)' }}&gt;&#10;                        &lt;Text style={{ fontSize: 15, color: '#B45309' }}&gt;时间空间折中&lt;/Text&gt;&#10;                    &lt;/Box&gt;&#10;                    &lt;Box style={{ padding: '5px 12px', borderRadius: 999, background: 'rgba(245,158,11,0.16)' }}&gt;&#10;                        &lt;Text style={{ fontSize: 15, color: '#B45309' }}&gt;泊松分布&lt;/Text&gt;&#10;                    &lt;/Box&gt;&#10;                    &lt;Box style={{ padding: '5px 12px', borderRadius: 999, background: 'rgba(245,158,11,0.16)' }}&gt;&#10;                        &lt;Text style={{ fontSize: 15, color: '#B45309' }}&gt;阈值 = 容量 × 0.75&lt;/Text&gt;&#10;                    &lt;/Box&gt;&#10;                &lt;/Box&gt;&#10;            &lt;/Box&gt;&#10;        &lt;/Box&gt;&#10;    &lt;/Box&gt;&#10;&#10;    &lt;Box style={{&#10;        height: 60,&#10;        padding: '0 72px 20px 72px',&#10;        flexDirection: 'row',&#10;        alignItems: 'flex-end',&#10;        justifyContent: 'space-between'&#10;    }}&gt;&#10;        &lt;Box style={{ flexDirection: 'row', alignItems: 'center', gap: 12 }}&gt;&#10;            &lt;svg width={32} height={32} viewBox='0 0 32 32'&gt;&#10;                &lt;rect x='0.5' y='0.5' width='31' height='31' rx='7' fill='rgba(37,99,235,0.10)' stroke='#2563EB' strokeWidth='1' /&gt;&#10;                &lt;rect x='8' y='8' width='7' height='7' rx='1.5' fill='#2563EB' /&gt;&#10;                &lt;rect x='17' y='8' width='7' height='7' rx='1.5' fill='#06B6D4' /&gt;&#10;                &lt;rect x='8' y='17' width='7' height='7' rx='1.5' fill='#06B6D4' /&gt;&#10;                &lt;rect x='17' y='17' width='7' height='7' rx='1.5' fill='#F59E0B' /&gt;&#10;            &lt;/svg&gt;&#10;            &lt;Text style={{ fontSize: 14, color: '#64748B', letterSpacing: 0.5 }}&gt;HashMap JDK1.8 · 底层结构与 put 全流程&lt;/Text&gt;&#10;        &lt;/Box&gt;&#10;        &lt;Text style={{ fontSize: 14, color: '#64748B', fontFamily: 'JetBrains Mono, Consolas, monospace' }}&gt;1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4933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0F172A"/>
                </a:solidFill>
                <a:latin typeface="思源黑体"/>
                <a:ea typeface="思源黑体"/>
              </a:rPr>
              <a:t>三个自测问题：能答上就是真懂了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496550" y="59055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第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04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章</a:t>
            </a:r>
            <a:r>
              <a:rPr lang="en-US" sz="1050" spc="75">
                <a:solidFill>
                  <a:srgbClr val="64748B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 spc="75">
                <a:solidFill>
                  <a:srgbClr val="64748B"/>
                </a:solidFill>
                <a:latin typeface="思源黑体"/>
                <a:ea typeface="思源黑体"/>
              </a:rPr>
              <a:t>自测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85800" y="1143000"/>
            <a:ext cx="3238500" cy="514350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33450" y="14478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75000"/>
                  </a:srgbClr>
                </a:solidFill>
                <a:latin typeface="JetBrains Mono"/>
                <a:ea typeface="JetBrains Mono"/>
              </a:rPr>
              <a:t>SELF CHECK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33450" y="1762125"/>
            <a:ext cx="27432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>
                <a:solidFill>
                  <a:srgbClr val="FFFFFF"/>
                </a:solidFill>
                <a:latin typeface="思源黑体"/>
                <a:ea typeface="思源黑体"/>
              </a:rPr>
              <a:t>自测问题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933450" y="23717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33450" y="2562225"/>
            <a:ext cx="27432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能讲清流程、说清位运算与取模的取舍、说出</a:t>
            </a:r>
            <a:r>
              <a:rPr lang="en-US" sz="135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 xml:space="preserve"> 0.75 </a:t>
            </a:r>
            <a:r>
              <a:rPr lang="zh-CN" sz="1350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的由来，这一节就算过关。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33450" y="5181600"/>
            <a:ext cx="2743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答不上就回翻：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P11 put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流程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 · P15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位运算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 · P08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负载因子。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33450" y="5829300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62000"/>
                  </a:srgbClr>
                </a:solidFill>
                <a:latin typeface="JetBrains Mono"/>
                <a:ea typeface="JetBrains Mono"/>
              </a:rPr>
              <a:t>PUT / BITWISE / LOAD FACTOR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4229100" y="1143000"/>
            <a:ext cx="7315200" cy="1685925"/>
          </a:xfrm>
          <a:prstGeom prst="roundRect">
            <a:avLst>
              <a:gd name="adj" fmla="val 6780"/>
            </a:avLst>
          </a:prstGeom>
          <a:solidFill>
            <a:srgbClr val="2563EB">
              <a:alpha val="7000"/>
            </a:srgbClr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4229100" y="1143000"/>
            <a:ext cx="7315200" cy="1685925"/>
          </a:xfrm>
          <a:custGeom>
            <a:pathLst>
              <a:path w="768" h="1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69"/>
                </a:lnTo>
                <a:cubicBezTo>
                  <a:pt x="4" y="173"/>
                  <a:pt x="7" y="176"/>
                  <a:pt x="10" y="177"/>
                </a:cubicBezTo>
                <a:cubicBezTo>
                  <a:pt x="4" y="176"/>
                  <a:pt x="0" y="171"/>
                  <a:pt x="0" y="1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438650" y="129540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867275" y="1323975"/>
            <a:ext cx="3448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F172A"/>
                </a:solidFill>
                <a:latin typeface="思源黑体"/>
                <a:ea typeface="思源黑体"/>
              </a:rPr>
              <a:t xml:space="preserve">HashMap </a:t>
            </a: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的</a:t>
            </a:r>
            <a:r>
              <a:rPr lang="en-US" sz="1650" b="1">
                <a:solidFill>
                  <a:srgbClr val="0F172A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完整流程是什么？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438650" y="1695450"/>
            <a:ext cx="685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先判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table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是否为空或长度为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0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，懒加载初始化；再算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hash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与桶下标；桶为空直接放，非空则按桶头类型走链表尾插或红黑树；插入后判树化、判扩容。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438650" y="2409825"/>
            <a:ext cx="657225" cy="266700"/>
          </a:xfrm>
          <a:prstGeom prst="roundRect">
            <a:avLst>
              <a:gd name="adj" fmla="val 3567857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552950" y="24574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563EB"/>
                </a:solidFill>
                <a:latin typeface="思源黑体"/>
                <a:ea typeface="思源黑体"/>
              </a:rPr>
              <a:t>懒加载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5191125" y="2409825"/>
            <a:ext cx="800100" cy="266700"/>
          </a:xfrm>
          <a:prstGeom prst="roundRect">
            <a:avLst>
              <a:gd name="adj" fmla="val 3567857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305425" y="24574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563EB"/>
                </a:solidFill>
                <a:latin typeface="思源黑体"/>
                <a:ea typeface="思源黑体"/>
              </a:rPr>
              <a:t>桶头分叉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86475" y="2409825"/>
            <a:ext cx="657225" cy="266700"/>
          </a:xfrm>
          <a:prstGeom prst="roundRect">
            <a:avLst>
              <a:gd name="adj" fmla="val 3567857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200775" y="24574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563EB"/>
                </a:solidFill>
                <a:latin typeface="思源黑体"/>
                <a:ea typeface="思源黑体"/>
              </a:rPr>
              <a:t>判树化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838950" y="2409825"/>
            <a:ext cx="657225" cy="266700"/>
          </a:xfrm>
          <a:prstGeom prst="roundRect">
            <a:avLst>
              <a:gd name="adj" fmla="val 3567857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953250" y="24574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563EB"/>
                </a:solidFill>
                <a:latin typeface="思源黑体"/>
                <a:ea typeface="思源黑体"/>
              </a:rPr>
              <a:t>判扩容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4229100" y="2876550"/>
            <a:ext cx="7315200" cy="1685925"/>
          </a:xfrm>
          <a:prstGeom prst="roundRect">
            <a:avLst>
              <a:gd name="adj" fmla="val 6780"/>
            </a:avLst>
          </a:prstGeom>
          <a:solidFill>
            <a:srgbClr val="06B6D4">
              <a:alpha val="9000"/>
            </a:srgbClr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4229100" y="2876550"/>
            <a:ext cx="7315200" cy="1685925"/>
          </a:xfrm>
          <a:custGeom>
            <a:pathLst>
              <a:path w="768" h="1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69"/>
                </a:lnTo>
                <a:cubicBezTo>
                  <a:pt x="4" y="173"/>
                  <a:pt x="7" y="176"/>
                  <a:pt x="10" y="177"/>
                </a:cubicBezTo>
                <a:cubicBezTo>
                  <a:pt x="4" y="176"/>
                  <a:pt x="0" y="171"/>
                  <a:pt x="0" y="1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438650" y="302895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867275" y="3057525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为什么用位运算而不是取模？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438650" y="3429000"/>
            <a:ext cx="685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因为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n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是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的幂，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n-1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就是低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位全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1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的掩码，与运算等价于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hash % n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且取值范围一致；取模底层是除法，开销更大、时钟周期更长。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4438650" y="4143375"/>
            <a:ext cx="933450" cy="266700"/>
          </a:xfrm>
          <a:prstGeom prst="roundRect">
            <a:avLst>
              <a:gd name="adj" fmla="val 3567857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552950" y="4191000"/>
            <a:ext cx="70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891B2"/>
                </a:solidFill>
                <a:latin typeface="思源黑体"/>
                <a:ea typeface="思源黑体"/>
              </a:rPr>
              <a:t xml:space="preserve">2 </a:t>
            </a:r>
            <a:r>
              <a:rPr lang="zh-CN" sz="1125">
                <a:solidFill>
                  <a:srgbClr val="0891B2"/>
                </a:solidFill>
                <a:latin typeface="思源黑体"/>
                <a:ea typeface="思源黑体"/>
              </a:rPr>
              <a:t>的幂前提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5467350" y="4143375"/>
            <a:ext cx="971550" cy="266700"/>
          </a:xfrm>
          <a:prstGeom prst="roundRect">
            <a:avLst>
              <a:gd name="adj" fmla="val 3567857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581650" y="4191000"/>
            <a:ext cx="742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891B2"/>
                </a:solidFill>
                <a:latin typeface="思源黑体"/>
                <a:ea typeface="思源黑体"/>
              </a:rPr>
              <a:t>低</a:t>
            </a:r>
            <a:r>
              <a:rPr lang="en-US" sz="1125">
                <a:solidFill>
                  <a:srgbClr val="0891B2"/>
                </a:solidFill>
                <a:latin typeface="思源黑体"/>
                <a:ea typeface="思源黑体"/>
              </a:rPr>
              <a:t xml:space="preserve"> k </a:t>
            </a:r>
            <a:r>
              <a:rPr lang="zh-CN" sz="1125">
                <a:solidFill>
                  <a:srgbClr val="0891B2"/>
                </a:solidFill>
                <a:latin typeface="思源黑体"/>
                <a:ea typeface="思源黑体"/>
              </a:rPr>
              <a:t>位掩码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534150" y="4143375"/>
            <a:ext cx="942975" cy="266700"/>
          </a:xfrm>
          <a:prstGeom prst="roundRect">
            <a:avLst>
              <a:gd name="adj" fmla="val 3567857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648450" y="41910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891B2"/>
                </a:solidFill>
                <a:latin typeface="思源黑体"/>
                <a:ea typeface="思源黑体"/>
              </a:rPr>
              <a:t>单周期运算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229100" y="4600575"/>
            <a:ext cx="7315200" cy="1685925"/>
          </a:xfrm>
          <a:prstGeom prst="roundRect">
            <a:avLst>
              <a:gd name="adj" fmla="val 6780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4229100" y="4600575"/>
            <a:ext cx="7315200" cy="1685925"/>
          </a:xfrm>
          <a:custGeom>
            <a:pathLst>
              <a:path w="768" h="17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69"/>
                </a:lnTo>
                <a:cubicBezTo>
                  <a:pt x="4" y="173"/>
                  <a:pt x="7" y="176"/>
                  <a:pt x="10" y="177"/>
                </a:cubicBezTo>
                <a:cubicBezTo>
                  <a:pt x="4" y="176"/>
                  <a:pt x="0" y="171"/>
                  <a:pt x="0" y="16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438650" y="4752975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59E0B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867275" y="478155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负载因子为什么是</a:t>
            </a:r>
            <a:r>
              <a:rPr lang="en-US" sz="1650" b="1">
                <a:solidFill>
                  <a:srgbClr val="0F172A"/>
                </a:solidFill>
                <a:latin typeface="思源黑体"/>
                <a:ea typeface="思源黑体"/>
              </a:rPr>
              <a:t xml:space="preserve"> 0.75</a:t>
            </a: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？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38650" y="5153025"/>
            <a:ext cx="685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是空间开销与哈希冲突概率的折中：太小浪费空间，太大冲突频繁、查找效率低；理论依据是泊松分布，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hash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均匀时单桶链表达到</a:t>
            </a:r>
            <a:r>
              <a:rPr lang="en-US" sz="1350">
                <a:solidFill>
                  <a:srgbClr val="475569"/>
                </a:solidFill>
                <a:latin typeface="思源黑体"/>
                <a:ea typeface="思源黑体"/>
              </a:rPr>
              <a:t xml:space="preserve"> 8 </a:t>
            </a: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的概率非常小。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438650" y="5867400"/>
            <a:ext cx="1085850" cy="266700"/>
          </a:xfrm>
          <a:prstGeom prst="roundRect">
            <a:avLst>
              <a:gd name="adj" fmla="val 3567857"/>
            </a:avLst>
          </a:prstGeom>
          <a:solidFill>
            <a:srgbClr val="F59E0B">
              <a:alpha val="16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52950" y="5915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45309"/>
                </a:solidFill>
                <a:latin typeface="思源黑体"/>
                <a:ea typeface="思源黑体"/>
              </a:rPr>
              <a:t>时间空间折中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619750" y="5867400"/>
            <a:ext cx="800100" cy="266700"/>
          </a:xfrm>
          <a:prstGeom prst="roundRect">
            <a:avLst>
              <a:gd name="adj" fmla="val 3567857"/>
            </a:avLst>
          </a:prstGeom>
          <a:solidFill>
            <a:srgbClr val="F59E0B">
              <a:alpha val="16000"/>
            </a:srgbClr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734050" y="5915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45309"/>
                </a:solidFill>
                <a:latin typeface="思源黑体"/>
                <a:ea typeface="思源黑体"/>
              </a:rPr>
              <a:t>泊松分布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515100" y="5867400"/>
            <a:ext cx="1476375" cy="266700"/>
          </a:xfrm>
          <a:prstGeom prst="roundRect">
            <a:avLst>
              <a:gd name="adj" fmla="val 3567857"/>
            </a:avLst>
          </a:prstGeom>
          <a:solidFill>
            <a:srgbClr val="F59E0B">
              <a:alpha val="16000"/>
            </a:srgbClr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629400" y="5915025"/>
            <a:ext cx="1247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B45309"/>
                </a:solidFill>
                <a:latin typeface="思源黑体"/>
                <a:ea typeface="思源黑体"/>
              </a:rPr>
              <a:t>阈值</a:t>
            </a:r>
            <a:r>
              <a:rPr lang="en-US" sz="1125">
                <a:solidFill>
                  <a:srgbClr val="B45309"/>
                </a:solidFill>
                <a:latin typeface="思源黑体"/>
                <a:ea typeface="思源黑体"/>
              </a:rPr>
              <a:t xml:space="preserve"> = </a:t>
            </a:r>
            <a:r>
              <a:rPr lang="zh-CN" sz="1125">
                <a:solidFill>
                  <a:srgbClr val="B45309"/>
                </a:solidFill>
                <a:latin typeface="思源黑体"/>
                <a:ea typeface="思源黑体"/>
              </a:rPr>
              <a:t>容量</a:t>
            </a:r>
            <a:r>
              <a:rPr lang="en-US" sz="1125">
                <a:solidFill>
                  <a:srgbClr val="B45309"/>
                </a:solidFill>
                <a:latin typeface="思源黑体"/>
                <a:ea typeface="思源黑体"/>
              </a:rPr>
              <a:t xml:space="preserve"> × 0.75</a:t>
            </a:r>
            <a:endParaRPr/>
          </a:p>
        </p:txBody>
      </p:sp>
      <p:pic>
        <p:nvPicPr>
          <p:cNvPr id="3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362700"/>
            <a:ext cx="304800" cy="304800"/>
          </a:xfrm>
          <a:prstGeom prst="rect">
            <a:avLst/>
          </a:prstGeom>
          <a:ln/>
        </p:spPr>
      </p:pic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04900" y="6438900"/>
            <a:ext cx="269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HashMap JDK1.8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put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991850" y="65055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1" name="" descr="&lt;Slide style={{&#10;    width: 1280,&#10;    height: 720,&#10;    padding: 0,&#10;    position: 'relative',&#10;    overflow: 'hidden',&#10;    flexDirection: 'column',&#10;    background: 'linear-gradient(160deg, #0F172A 0%, #1E293B 100%)',&#10;    fontFamily: '思源黑体, Microsoft YaHei, sans-serif'&#10;}}&gt;&#10;    &lt;Box style={{&#10;        position: 'absolute',&#10;        top: -220,&#10;        right: -120,&#10;        width: 760,&#10;        height: 760,&#10;        borderRadius: '50%',&#10;        background: 'radial-gradient(circle, rgba(37,99,235,0.30) 0%, rgba(37,99,235,0) 70%)'&#10;    }} /&gt;&#10;    &lt;Box style={{&#10;        position: 'absolute',&#10;        bottom: -260,&#10;        left: -120,&#10;        width: 700,&#10;        height: 700,&#10;        borderRadius: '50%',&#10;        background: 'radial-gradient(circle, rgba(245,158,11,0.18) 0%, rgba(245,158,11,0) 70%)'&#10;    }} /&gt;&#10;&#10;    &lt;Box style={{ padding: '132px 96px 0 96px', flexDirection: 'column', gap: 26, position: 'relative', zIndex: 1 }}&gt;&#10;        &lt;Text style={{&#10;            fontSize: 15,&#10;            letterSpacing: 4,&#10;            color: '#06B6D4',&#10;            fontFamily: 'JetBrains Mono, Consolas, monospace'&#10;        }}&gt;WRAP UP · 一条链收束全篇&lt;/Text&gt;&#10;&#10;        &lt;Text style={{ fontSize: 64, fontWeight: 'bold', lineHeight: 1.15, letterSpacing: 2, color: '#FFFFFF' }}&gt;&#10;            结构 → 扰动 → put → 扩容&#10;        &lt;/Text&gt;&#10;&#10;        &lt;Box style={{ width: 120, height: 6, borderRadius: 3, background: 'linear-gradient(135deg, #2563EB 0%, #06B6D4 100%)' }} /&gt;&#10;&#10;        &lt;Text style={{ fontSize: 24, color: '#CBD5E1', lineHeight: 1.5, width: 940 }}&gt;&#10;            结构定形态、扰动定碰撞、put 定路径、扩容定代价；四个数字各守一条边界。&#10;        &lt;/Text&gt;&#10;&#10;        &lt;Text style={{ fontSize: 20, color: '#94A3B8', lineHeight: 1.6 }}&gt;&#10;            16 定容量 · 0.75 定阈值 · 8 与 6 定边界 · 64 定前提 · 最大容量 2 的 30 次方&#10;        &lt;/Text&gt;&#10;    &lt;/Box&gt;&#10;&#10;    &lt;Box style={{ position: 'absolute', left: 0, bottom: 0, width: 1280, height: 230, zIndex: 1 }}&gt;&#10;        &lt;svg width={1280} height={230} viewBox='0 0 1280 230'&gt;&#10;            &lt;rect x='140' y='26' width='200' height='84' rx='16' fill='rgba(6,182,212,0.16)' stroke='#06B6D4' strokeWidth='2.5' /&gt;&#10;            &lt;rect x='420' y='26' width='200' height='84' rx='16' fill='rgba(37,99,235,0.22)' stroke='#2563EB' strokeWidth='2.5' /&gt;&#10;            &lt;rect x='700' y='26' width='200' height='84' rx='16' fill='rgba(6,182,212,0.16)' stroke='#06B6D4' strokeWidth='2.5' /&gt;&#10;            &lt;rect x='980' y='26' width='200' height='84' rx='16' fill='rgba(245,158,11,0.22)' stroke='#F59E0B' strokeWidth='2.5' /&gt;&#10;&#10;            &lt;circle cx='186' cy='68' r='12' fill='#06B6D4' /&gt;&#10;            &lt;line x1='206' y1='68' x2='248' y2='68' stroke='#06B6D4' strokeWidth='2.5' opacity='0.7' /&gt;&#10;            &lt;circle cx='266' cy='68' r='12' fill='#06B6D4' opacity='0.7' /&gt;&#10;            &lt;circle cx='466' cy='68' r='12' fill='#2563EB' /&gt;&#10;            &lt;line x1='486' y1='68' x2='528' y2='68' stroke='#2563EB' strokeWidth='2.5' opacity='0.7' /&gt;&#10;            &lt;circle cx='546' cy='68' r='12' fill='#2563EB' opacity='0.7' /&gt;&#10;            &lt;circle cx='746' cy='68' r='12' fill='#06B6D4' /&gt;&#10;            &lt;line x1='766' y1='68' x2='808' y2='68' stroke='#06B6D4' strokeWidth='2.5' opacity='0.7' /&gt;&#10;            &lt;circle cx='826' cy='68' r='12' fill='#06B6D4' opacity='0.7' /&gt;&#10;            &lt;circle cx='1026' cy='68' r='12' fill='#F59E0B' /&gt;&#10;            &lt;line x1='1046' y1='68' x2='1088' y2='68' stroke='#F59E0B' strokeWidth='2.5' opacity='0.7' /&gt;&#10;            &lt;circle cx='1106' cy='68' r='12' fill='#F59E0B' opacity='0.7' /&gt;&#10;&#10;            &lt;line x1='350' y1='68' x2='400' y2='68' stroke='rgba(255,255,255,0.45)' strokeWidth='3' /&gt;&#10;            &lt;polygon points='414,68 396,59 396,77' fill='rgba(255,255,255,0.6)' /&gt;&#10;            &lt;line x1='630' y1='68' x2='680' y2='68' stroke='rgba(255,255,255,0.45)' strokeWidth='3' /&gt;&#10;            &lt;polygon points='694,68 676,59 676,77' fill='rgba(255,255,255,0.6)' /&gt;&#10;            &lt;line x1='910' y1='68' x2='960' y2='68' stroke='rgba(255,255,255,0.45)' strokeWidth='3' /&gt;&#10;            &lt;polygon points='974,68 956,59 956,77' fill='rgba(255,255,255,0.6)' /&gt;&#10;&#10;            &lt;line x1='240' y1='112' x2='240' y2='176' stroke='rgba(6,182,212,0.45)' strokeWidth='2' /&gt;&#10;            &lt;line x1='520' y1='112' x2='520' y2='176' stroke='rgba(37,99,235,0.55)' strokeWidth='2' /&gt;&#10;            &lt;line x1='800' y1='112' x2='800' y2='176' stroke='rgba(6,182,212,0.45)' strokeWidth='2' /&gt;&#10;            &lt;line x1='1080' y1='112' x2='1080' y2='176' stroke='rgba(245,158,11,0.55)' strokeWidth='2' /&gt;&#10;&#10;            &lt;line x1='240' y1='182' x2='1080' y2='182' stroke='rgba(255,255,255,0.18)' strokeWidth='2.5' /&gt;&#10;            &lt;circle cx='240' cy='182' r='10' fill='#06B6D4' /&gt;&#10;            &lt;circle cx='520' cy='182' r='10' fill='#2563EB' /&gt;&#10;            &lt;circle cx='800' cy='182' r='10' fill='#06B6D4' /&gt;&#10;            &lt;circle cx='1080' cy='182' r='10' fill='#F59E0B' /&gt;&#10;        &lt;/svg&gt;&#10;    &lt;/Box&gt;&#10;&#10;    &lt;Box style={{&#10;        position: 'absolute',&#10;        left: 96,&#10;        right: 96,&#10;        bottom: 30,&#10;        flexDirection: 'row',&#10;        justifyContent: 'space-between',&#10;        alignItems: 'center',&#10;        zIndex: 2&#10;    }}&gt;&#10;        &lt;Text style={{ fontSize: 14, color: '#64748B', letterSpacing: 0.5 }}&gt;13-HashMap1.8底层结构与put全流程 · 学习笔记串讲&lt;/Text&gt;&#10;        &lt;Text style={{ fontSize: 14, color: '#64748B', fontFamily: 'JetBrains Mono, Consolas, monospace' }}&gt;18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6096000" y="-2095500"/>
            <a:ext cx="7239000" cy="7239000"/>
          </a:xfrm>
          <a:custGeom>
            <a:pathLst>
              <a:path w="760" h="760">
                <a:moveTo>
                  <a:pt x="640" y="657"/>
                </a:moveTo>
                <a:lnTo>
                  <a:pt x="635" y="661"/>
                </a:lnTo>
                <a:lnTo>
                  <a:pt x="629" y="667"/>
                </a:lnTo>
                <a:lnTo>
                  <a:pt x="622" y="673"/>
                </a:lnTo>
                <a:lnTo>
                  <a:pt x="615" y="679"/>
                </a:lnTo>
                <a:lnTo>
                  <a:pt x="607" y="684"/>
                </a:lnTo>
                <a:lnTo>
                  <a:pt x="600" y="690"/>
                </a:lnTo>
                <a:lnTo>
                  <a:pt x="592" y="695"/>
                </a:lnTo>
                <a:lnTo>
                  <a:pt x="585" y="700"/>
                </a:lnTo>
                <a:lnTo>
                  <a:pt x="577" y="705"/>
                </a:lnTo>
                <a:lnTo>
                  <a:pt x="569" y="710"/>
                </a:lnTo>
                <a:lnTo>
                  <a:pt x="561" y="714"/>
                </a:lnTo>
                <a:lnTo>
                  <a:pt x="553" y="718"/>
                </a:lnTo>
                <a:lnTo>
                  <a:pt x="545" y="723"/>
                </a:lnTo>
                <a:lnTo>
                  <a:pt x="536" y="726"/>
                </a:lnTo>
                <a:lnTo>
                  <a:pt x="528" y="730"/>
                </a:lnTo>
                <a:lnTo>
                  <a:pt x="519" y="734"/>
                </a:lnTo>
                <a:lnTo>
                  <a:pt x="511" y="737"/>
                </a:lnTo>
                <a:lnTo>
                  <a:pt x="502" y="740"/>
                </a:lnTo>
                <a:lnTo>
                  <a:pt x="493" y="743"/>
                </a:lnTo>
                <a:lnTo>
                  <a:pt x="484" y="746"/>
                </a:lnTo>
                <a:lnTo>
                  <a:pt x="475" y="748"/>
                </a:lnTo>
                <a:lnTo>
                  <a:pt x="466" y="750"/>
                </a:lnTo>
                <a:lnTo>
                  <a:pt x="457" y="752"/>
                </a:lnTo>
                <a:lnTo>
                  <a:pt x="447" y="754"/>
                </a:lnTo>
                <a:lnTo>
                  <a:pt x="438" y="756"/>
                </a:lnTo>
                <a:lnTo>
                  <a:pt x="428" y="757"/>
                </a:lnTo>
                <a:lnTo>
                  <a:pt x="419" y="758"/>
                </a:lnTo>
                <a:lnTo>
                  <a:pt x="409" y="759"/>
                </a:lnTo>
                <a:lnTo>
                  <a:pt x="400" y="760"/>
                </a:lnTo>
                <a:lnTo>
                  <a:pt x="390" y="760"/>
                </a:lnTo>
                <a:lnTo>
                  <a:pt x="380" y="760"/>
                </a:lnTo>
                <a:lnTo>
                  <a:pt x="370" y="760"/>
                </a:lnTo>
                <a:lnTo>
                  <a:pt x="360" y="760"/>
                </a:lnTo>
                <a:lnTo>
                  <a:pt x="351" y="759"/>
                </a:lnTo>
                <a:lnTo>
                  <a:pt x="341" y="758"/>
                </a:lnTo>
                <a:lnTo>
                  <a:pt x="332" y="757"/>
                </a:lnTo>
                <a:lnTo>
                  <a:pt x="322" y="756"/>
                </a:lnTo>
                <a:lnTo>
                  <a:pt x="313" y="754"/>
                </a:lnTo>
                <a:lnTo>
                  <a:pt x="303" y="752"/>
                </a:lnTo>
                <a:lnTo>
                  <a:pt x="294" y="750"/>
                </a:lnTo>
                <a:lnTo>
                  <a:pt x="285" y="748"/>
                </a:lnTo>
                <a:lnTo>
                  <a:pt x="276" y="746"/>
                </a:lnTo>
                <a:lnTo>
                  <a:pt x="267" y="743"/>
                </a:lnTo>
                <a:lnTo>
                  <a:pt x="258" y="740"/>
                </a:lnTo>
                <a:lnTo>
                  <a:pt x="249" y="737"/>
                </a:lnTo>
                <a:lnTo>
                  <a:pt x="241" y="734"/>
                </a:lnTo>
                <a:lnTo>
                  <a:pt x="232" y="730"/>
                </a:lnTo>
                <a:lnTo>
                  <a:pt x="224" y="726"/>
                </a:lnTo>
                <a:lnTo>
                  <a:pt x="215" y="723"/>
                </a:lnTo>
                <a:lnTo>
                  <a:pt x="207" y="718"/>
                </a:lnTo>
                <a:lnTo>
                  <a:pt x="199" y="714"/>
                </a:lnTo>
                <a:lnTo>
                  <a:pt x="191" y="710"/>
                </a:lnTo>
                <a:lnTo>
                  <a:pt x="183" y="705"/>
                </a:lnTo>
                <a:lnTo>
                  <a:pt x="175" y="700"/>
                </a:lnTo>
                <a:lnTo>
                  <a:pt x="168" y="695"/>
                </a:lnTo>
                <a:lnTo>
                  <a:pt x="160" y="690"/>
                </a:lnTo>
                <a:lnTo>
                  <a:pt x="153" y="684"/>
                </a:lnTo>
                <a:lnTo>
                  <a:pt x="145" y="679"/>
                </a:lnTo>
                <a:lnTo>
                  <a:pt x="138" y="673"/>
                </a:lnTo>
                <a:lnTo>
                  <a:pt x="131" y="667"/>
                </a:lnTo>
                <a:lnTo>
                  <a:pt x="125" y="661"/>
                </a:lnTo>
                <a:lnTo>
                  <a:pt x="118" y="655"/>
                </a:lnTo>
                <a:lnTo>
                  <a:pt x="111" y="649"/>
                </a:lnTo>
                <a:lnTo>
                  <a:pt x="105" y="642"/>
                </a:lnTo>
                <a:lnTo>
                  <a:pt x="99" y="635"/>
                </a:lnTo>
                <a:lnTo>
                  <a:pt x="93" y="629"/>
                </a:lnTo>
                <a:lnTo>
                  <a:pt x="87" y="622"/>
                </a:lnTo>
                <a:lnTo>
                  <a:pt x="81" y="615"/>
                </a:lnTo>
                <a:lnTo>
                  <a:pt x="76" y="607"/>
                </a:lnTo>
                <a:lnTo>
                  <a:pt x="70" y="600"/>
                </a:lnTo>
                <a:lnTo>
                  <a:pt x="65" y="592"/>
                </a:lnTo>
                <a:lnTo>
                  <a:pt x="60" y="585"/>
                </a:lnTo>
                <a:lnTo>
                  <a:pt x="55" y="577"/>
                </a:lnTo>
                <a:lnTo>
                  <a:pt x="50" y="569"/>
                </a:lnTo>
                <a:lnTo>
                  <a:pt x="46" y="561"/>
                </a:lnTo>
                <a:lnTo>
                  <a:pt x="42" y="553"/>
                </a:lnTo>
                <a:lnTo>
                  <a:pt x="37" y="545"/>
                </a:lnTo>
                <a:lnTo>
                  <a:pt x="34" y="536"/>
                </a:lnTo>
                <a:lnTo>
                  <a:pt x="30" y="528"/>
                </a:lnTo>
                <a:lnTo>
                  <a:pt x="26" y="519"/>
                </a:lnTo>
                <a:lnTo>
                  <a:pt x="23" y="511"/>
                </a:lnTo>
                <a:lnTo>
                  <a:pt x="20" y="502"/>
                </a:lnTo>
                <a:lnTo>
                  <a:pt x="17" y="493"/>
                </a:lnTo>
                <a:lnTo>
                  <a:pt x="14" y="484"/>
                </a:lnTo>
                <a:lnTo>
                  <a:pt x="12" y="475"/>
                </a:lnTo>
                <a:lnTo>
                  <a:pt x="10" y="466"/>
                </a:lnTo>
                <a:lnTo>
                  <a:pt x="8" y="457"/>
                </a:lnTo>
                <a:lnTo>
                  <a:pt x="6" y="447"/>
                </a:lnTo>
                <a:lnTo>
                  <a:pt x="4" y="438"/>
                </a:lnTo>
                <a:lnTo>
                  <a:pt x="3" y="428"/>
                </a:lnTo>
                <a:lnTo>
                  <a:pt x="2" y="419"/>
                </a:lnTo>
                <a:lnTo>
                  <a:pt x="1" y="409"/>
                </a:lnTo>
                <a:lnTo>
                  <a:pt x="0" y="400"/>
                </a:lnTo>
                <a:lnTo>
                  <a:pt x="0" y="390"/>
                </a:lnTo>
                <a:lnTo>
                  <a:pt x="0" y="380"/>
                </a:lnTo>
                <a:lnTo>
                  <a:pt x="0" y="370"/>
                </a:lnTo>
                <a:lnTo>
                  <a:pt x="0" y="360"/>
                </a:lnTo>
                <a:lnTo>
                  <a:pt x="1" y="351"/>
                </a:lnTo>
                <a:lnTo>
                  <a:pt x="2" y="341"/>
                </a:lnTo>
                <a:lnTo>
                  <a:pt x="3" y="332"/>
                </a:lnTo>
                <a:lnTo>
                  <a:pt x="4" y="322"/>
                </a:lnTo>
                <a:lnTo>
                  <a:pt x="6" y="313"/>
                </a:lnTo>
                <a:lnTo>
                  <a:pt x="8" y="303"/>
                </a:lnTo>
                <a:lnTo>
                  <a:pt x="10" y="294"/>
                </a:lnTo>
                <a:lnTo>
                  <a:pt x="12" y="285"/>
                </a:lnTo>
                <a:lnTo>
                  <a:pt x="14" y="276"/>
                </a:lnTo>
                <a:lnTo>
                  <a:pt x="17" y="267"/>
                </a:lnTo>
                <a:lnTo>
                  <a:pt x="20" y="258"/>
                </a:lnTo>
                <a:lnTo>
                  <a:pt x="23" y="249"/>
                </a:lnTo>
                <a:lnTo>
                  <a:pt x="26" y="241"/>
                </a:lnTo>
                <a:lnTo>
                  <a:pt x="30" y="232"/>
                </a:lnTo>
                <a:lnTo>
                  <a:pt x="34" y="224"/>
                </a:lnTo>
                <a:lnTo>
                  <a:pt x="35" y="220"/>
                </a:lnTo>
                <a:lnTo>
                  <a:pt x="640" y="220"/>
                </a:lnTo>
                <a:close/>
              </a:path>
            </a:pathLst>
          </a:custGeom>
          <a:gradFill>
            <a:gsLst>
              <a:gs pos="0">
                <a:srgbClr val="2563EB">
                  <a:alpha val="30000"/>
                </a:srgbClr>
              </a:gs>
              <a:gs pos="7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-1143000" y="2667000"/>
            <a:ext cx="6667500" cy="6667500"/>
          </a:xfrm>
          <a:custGeom>
            <a:pathLst>
              <a:path w="700" h="700">
                <a:moveTo>
                  <a:pt x="359" y="0"/>
                </a:moveTo>
                <a:lnTo>
                  <a:pt x="368" y="0"/>
                </a:lnTo>
                <a:lnTo>
                  <a:pt x="377" y="1"/>
                </a:lnTo>
                <a:lnTo>
                  <a:pt x="386" y="2"/>
                </a:lnTo>
                <a:lnTo>
                  <a:pt x="395" y="3"/>
                </a:lnTo>
                <a:lnTo>
                  <a:pt x="403" y="4"/>
                </a:lnTo>
                <a:lnTo>
                  <a:pt x="412" y="5"/>
                </a:lnTo>
                <a:lnTo>
                  <a:pt x="421" y="7"/>
                </a:lnTo>
                <a:lnTo>
                  <a:pt x="429" y="9"/>
                </a:lnTo>
                <a:lnTo>
                  <a:pt x="437" y="11"/>
                </a:lnTo>
                <a:lnTo>
                  <a:pt x="446" y="13"/>
                </a:lnTo>
                <a:lnTo>
                  <a:pt x="454" y="16"/>
                </a:lnTo>
                <a:lnTo>
                  <a:pt x="462" y="18"/>
                </a:lnTo>
                <a:lnTo>
                  <a:pt x="470" y="21"/>
                </a:lnTo>
                <a:lnTo>
                  <a:pt x="478" y="24"/>
                </a:lnTo>
                <a:lnTo>
                  <a:pt x="486" y="28"/>
                </a:lnTo>
                <a:lnTo>
                  <a:pt x="494" y="31"/>
                </a:lnTo>
                <a:lnTo>
                  <a:pt x="502" y="35"/>
                </a:lnTo>
                <a:lnTo>
                  <a:pt x="509" y="38"/>
                </a:lnTo>
                <a:lnTo>
                  <a:pt x="517" y="42"/>
                </a:lnTo>
                <a:lnTo>
                  <a:pt x="524" y="46"/>
                </a:lnTo>
                <a:lnTo>
                  <a:pt x="531" y="51"/>
                </a:lnTo>
                <a:lnTo>
                  <a:pt x="539" y="55"/>
                </a:lnTo>
                <a:lnTo>
                  <a:pt x="546" y="60"/>
                </a:lnTo>
                <a:lnTo>
                  <a:pt x="553" y="65"/>
                </a:lnTo>
                <a:lnTo>
                  <a:pt x="559" y="70"/>
                </a:lnTo>
                <a:lnTo>
                  <a:pt x="566" y="75"/>
                </a:lnTo>
                <a:lnTo>
                  <a:pt x="573" y="80"/>
                </a:lnTo>
                <a:lnTo>
                  <a:pt x="579" y="85"/>
                </a:lnTo>
                <a:lnTo>
                  <a:pt x="585" y="91"/>
                </a:lnTo>
                <a:lnTo>
                  <a:pt x="591" y="97"/>
                </a:lnTo>
                <a:lnTo>
                  <a:pt x="597" y="103"/>
                </a:lnTo>
                <a:lnTo>
                  <a:pt x="603" y="109"/>
                </a:lnTo>
                <a:lnTo>
                  <a:pt x="609" y="115"/>
                </a:lnTo>
                <a:lnTo>
                  <a:pt x="615" y="121"/>
                </a:lnTo>
                <a:lnTo>
                  <a:pt x="620" y="127"/>
                </a:lnTo>
                <a:lnTo>
                  <a:pt x="625" y="134"/>
                </a:lnTo>
                <a:lnTo>
                  <a:pt x="630" y="141"/>
                </a:lnTo>
                <a:lnTo>
                  <a:pt x="635" y="147"/>
                </a:lnTo>
                <a:lnTo>
                  <a:pt x="640" y="154"/>
                </a:lnTo>
                <a:lnTo>
                  <a:pt x="645" y="161"/>
                </a:lnTo>
                <a:lnTo>
                  <a:pt x="649" y="169"/>
                </a:lnTo>
                <a:lnTo>
                  <a:pt x="654" y="176"/>
                </a:lnTo>
                <a:lnTo>
                  <a:pt x="658" y="183"/>
                </a:lnTo>
                <a:lnTo>
                  <a:pt x="662" y="191"/>
                </a:lnTo>
                <a:lnTo>
                  <a:pt x="665" y="198"/>
                </a:lnTo>
                <a:lnTo>
                  <a:pt x="669" y="206"/>
                </a:lnTo>
                <a:lnTo>
                  <a:pt x="672" y="214"/>
                </a:lnTo>
                <a:lnTo>
                  <a:pt x="676" y="222"/>
                </a:lnTo>
                <a:lnTo>
                  <a:pt x="679" y="230"/>
                </a:lnTo>
                <a:lnTo>
                  <a:pt x="682" y="238"/>
                </a:lnTo>
                <a:lnTo>
                  <a:pt x="684" y="246"/>
                </a:lnTo>
                <a:lnTo>
                  <a:pt x="687" y="254"/>
                </a:lnTo>
                <a:lnTo>
                  <a:pt x="689" y="263"/>
                </a:lnTo>
                <a:lnTo>
                  <a:pt x="691" y="271"/>
                </a:lnTo>
                <a:lnTo>
                  <a:pt x="693" y="280"/>
                </a:lnTo>
                <a:lnTo>
                  <a:pt x="695" y="288"/>
                </a:lnTo>
                <a:lnTo>
                  <a:pt x="696" y="297"/>
                </a:lnTo>
                <a:lnTo>
                  <a:pt x="697" y="305"/>
                </a:lnTo>
                <a:lnTo>
                  <a:pt x="698" y="314"/>
                </a:lnTo>
                <a:lnTo>
                  <a:pt x="699" y="323"/>
                </a:lnTo>
                <a:lnTo>
                  <a:pt x="700" y="332"/>
                </a:lnTo>
                <a:lnTo>
                  <a:pt x="700" y="341"/>
                </a:lnTo>
                <a:lnTo>
                  <a:pt x="700" y="350"/>
                </a:lnTo>
                <a:lnTo>
                  <a:pt x="700" y="359"/>
                </a:lnTo>
                <a:lnTo>
                  <a:pt x="700" y="368"/>
                </a:lnTo>
                <a:lnTo>
                  <a:pt x="699" y="377"/>
                </a:lnTo>
                <a:lnTo>
                  <a:pt x="698" y="386"/>
                </a:lnTo>
                <a:lnTo>
                  <a:pt x="697" y="395"/>
                </a:lnTo>
                <a:lnTo>
                  <a:pt x="696" y="403"/>
                </a:lnTo>
                <a:lnTo>
                  <a:pt x="695" y="412"/>
                </a:lnTo>
                <a:lnTo>
                  <a:pt x="693" y="421"/>
                </a:lnTo>
                <a:lnTo>
                  <a:pt x="691" y="429"/>
                </a:lnTo>
                <a:lnTo>
                  <a:pt x="689" y="437"/>
                </a:lnTo>
                <a:lnTo>
                  <a:pt x="688" y="440"/>
                </a:lnTo>
                <a:lnTo>
                  <a:pt x="120" y="440"/>
                </a:lnTo>
                <a:lnTo>
                  <a:pt x="120" y="86"/>
                </a:lnTo>
                <a:lnTo>
                  <a:pt x="121" y="85"/>
                </a:lnTo>
                <a:lnTo>
                  <a:pt x="127" y="80"/>
                </a:lnTo>
                <a:lnTo>
                  <a:pt x="134" y="75"/>
                </a:lnTo>
                <a:lnTo>
                  <a:pt x="141" y="70"/>
                </a:lnTo>
                <a:lnTo>
                  <a:pt x="147" y="65"/>
                </a:lnTo>
                <a:lnTo>
                  <a:pt x="154" y="60"/>
                </a:lnTo>
                <a:lnTo>
                  <a:pt x="161" y="55"/>
                </a:lnTo>
                <a:lnTo>
                  <a:pt x="169" y="51"/>
                </a:lnTo>
                <a:lnTo>
                  <a:pt x="176" y="46"/>
                </a:lnTo>
                <a:lnTo>
                  <a:pt x="183" y="42"/>
                </a:lnTo>
                <a:lnTo>
                  <a:pt x="191" y="38"/>
                </a:lnTo>
                <a:lnTo>
                  <a:pt x="198" y="35"/>
                </a:lnTo>
                <a:lnTo>
                  <a:pt x="206" y="31"/>
                </a:lnTo>
                <a:lnTo>
                  <a:pt x="214" y="28"/>
                </a:lnTo>
                <a:lnTo>
                  <a:pt x="222" y="24"/>
                </a:lnTo>
                <a:lnTo>
                  <a:pt x="230" y="21"/>
                </a:lnTo>
                <a:lnTo>
                  <a:pt x="238" y="18"/>
                </a:lnTo>
                <a:lnTo>
                  <a:pt x="246" y="16"/>
                </a:lnTo>
                <a:lnTo>
                  <a:pt x="254" y="13"/>
                </a:lnTo>
                <a:lnTo>
                  <a:pt x="263" y="11"/>
                </a:lnTo>
                <a:lnTo>
                  <a:pt x="271" y="9"/>
                </a:lnTo>
                <a:lnTo>
                  <a:pt x="280" y="7"/>
                </a:lnTo>
                <a:lnTo>
                  <a:pt x="288" y="5"/>
                </a:lnTo>
                <a:lnTo>
                  <a:pt x="297" y="4"/>
                </a:lnTo>
                <a:lnTo>
                  <a:pt x="305" y="3"/>
                </a:lnTo>
                <a:lnTo>
                  <a:pt x="314" y="2"/>
                </a:lnTo>
                <a:lnTo>
                  <a:pt x="323" y="1"/>
                </a:lnTo>
                <a:lnTo>
                  <a:pt x="332" y="0"/>
                </a:lnTo>
                <a:lnTo>
                  <a:pt x="341" y="0"/>
                </a:lnTo>
                <a:lnTo>
                  <a:pt x="350" y="0"/>
                </a:lnTo>
                <a:close/>
              </a:path>
            </a:pathLst>
          </a:custGeom>
          <a:gradFill>
            <a:gsLst>
              <a:gs pos="0">
                <a:srgbClr val="F59E0B">
                  <a:alpha val="18000"/>
                </a:srgbClr>
              </a:gs>
              <a:gs pos="7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14400" y="1257300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06B6D4"/>
                </a:solidFill>
                <a:latin typeface="JetBrains Mono"/>
                <a:ea typeface="JetBrains Mono"/>
              </a:rPr>
              <a:t xml:space="preserve">WRAP UP · </a:t>
            </a:r>
            <a:r>
              <a:rPr lang="zh-CN" sz="1125" spc="300">
                <a:solidFill>
                  <a:srgbClr val="06B6D4"/>
                </a:solidFill>
                <a:latin typeface="JetBrains Mono"/>
                <a:ea typeface="JetBrains Mono"/>
              </a:rPr>
              <a:t>一条链收束全篇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14400" y="1676400"/>
            <a:ext cx="103632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结构</a:t>
            </a:r>
            <a:r>
              <a:rPr lang="en-US" sz="4800" b="1" spc="150">
                <a:solidFill>
                  <a:srgbClr val="FFFFFF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扰动</a:t>
            </a:r>
            <a:r>
              <a:rPr lang="en-US" sz="4800" b="1" spc="150">
                <a:solidFill>
                  <a:srgbClr val="FFFFFF"/>
                </a:solidFill>
                <a:latin typeface="思源黑体"/>
                <a:ea typeface="思源黑体"/>
              </a:rPr>
              <a:t xml:space="preserve"> → put → </a:t>
            </a:r>
            <a:r>
              <a:rPr lang="zh-CN" sz="4800" b="1" spc="150">
                <a:solidFill>
                  <a:srgbClr val="FFFFFF"/>
                </a:solidFill>
                <a:latin typeface="思源黑体"/>
                <a:ea typeface="思源黑体"/>
              </a:rPr>
              <a:t>扩容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914400" y="2771775"/>
            <a:ext cx="114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14400" y="3076575"/>
            <a:ext cx="8953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CBD5E1"/>
                </a:solidFill>
                <a:latin typeface="思源黑体"/>
                <a:ea typeface="思源黑体"/>
              </a:rPr>
              <a:t>结构定形态、扰动定碰撞、</a:t>
            </a:r>
            <a:r>
              <a:rPr lang="en-US" sz="1800">
                <a:solidFill>
                  <a:srgbClr val="CBD5E1"/>
                </a:solidFill>
                <a:latin typeface="思源黑体"/>
                <a:ea typeface="思源黑体"/>
              </a:rPr>
              <a:t xml:space="preserve">put </a:t>
            </a:r>
            <a:r>
              <a:rPr lang="zh-CN" sz="1800">
                <a:solidFill>
                  <a:srgbClr val="CBD5E1"/>
                </a:solidFill>
                <a:latin typeface="思源黑体"/>
                <a:ea typeface="思源黑体"/>
              </a:rPr>
              <a:t>定路径、扩容定代价；四个数字各守一条边界。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914400" y="374332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16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定容量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· 0.75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定阈值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· 8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与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6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定边界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· 64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定前提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最大容量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的</a:t>
            </a:r>
            <a:r>
              <a:rPr lang="en-US" sz="1500">
                <a:solidFill>
                  <a:srgbClr val="94A3B8"/>
                </a:solidFill>
                <a:latin typeface="思源黑体"/>
                <a:ea typeface="思源黑体"/>
              </a:rPr>
              <a:t xml:space="preserve"> 30 </a:t>
            </a:r>
            <a:r>
              <a:rPr lang="zh-CN" sz="1500">
                <a:solidFill>
                  <a:srgbClr val="94A3B8"/>
                </a:solidFill>
                <a:latin typeface="思源黑体"/>
                <a:ea typeface="思源黑体"/>
              </a:rPr>
              <a:t>次方</a:t>
            </a:r>
            <a:endParaRPr/>
          </a:p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4667250"/>
            <a:ext cx="12192000" cy="2190750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14400" y="6410325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>13-HashMap1.8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底层结构与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>put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全流程</a:t>
            </a:r>
            <a:r>
              <a:rPr lang="en-US" sz="1050" spc="38">
                <a:solidFill>
                  <a:srgbClr val="64748B"/>
                </a:solidFill>
                <a:latin typeface="思源黑体"/>
                <a:ea typeface="思源黑体"/>
              </a:rPr>
              <a:t xml:space="preserve"> · </a:t>
            </a:r>
            <a:r>
              <a:rPr lang="zh-CN" sz="1050" spc="38">
                <a:solidFill>
                  <a:srgbClr val="64748B"/>
                </a:solidFill>
                <a:latin typeface="思源黑体"/>
                <a:ea typeface="思源黑体"/>
              </a:rPr>
              <a:t>学习笔记串讲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763250" y="64103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2026-10-15T12:00:09Z</dcterms:created>
  <dcterms:modified xsi:type="dcterms:W3CDTF">2026-10-15T12:00:09Z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{"AIGC":{"Label":"1","ContentProducer":"00119111010856365494821B355","ProduceID":"01a13d9acc1c7186855b3f22d370b952","ReservedCode1":"","ContentPropagator":"00119111010856365494821B355","PropagateID":"01a13d9acc1c7186855b3f22d370b952","ReservedCode2":""}}</vt:lpwstr>
  </property>
</Properties>
</file>